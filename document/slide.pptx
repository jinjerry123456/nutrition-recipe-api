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3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71" r:id="rId17"/>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16" userDrawn="1">
          <p15:clr>
            <a:srgbClr val="747775"/>
          </p15:clr>
        </p15:guide>
        <p15:guide id="2" pos="289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16"/>
        <p:guide pos="289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 everyone. My name is [Your Name], and I'll be presenting my Coursework 1 project for the XJCO3011 module: the Nutrition &amp; Recipe Analytics API. This project is a comprehensive RESTful API designed to manage and analyze nutritional data, built using modern technologies and following robust software engineering principles. You can find all the source code, documentation, and reports in the GitHub repository linked on the slide.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goal of this coursework was to design and implement a fully functional, data-driven web API. I chose to tackle this by creating a Nutrition and Recipe Analytics API. The core objectives were to not only meet the basic requirements of implementing CRUD operations but also to build a secure, well-documented, and testable system that demonstrates professional software engineering practices.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efficiently demonstrate the API's capabilities within the 5-minute window, I've structured the demo to follow a clear roadmap. We'll start with authentication, then perform the core CRUD operations on a meal combo, explore the available data, check out the advanced analytics features, and finally, show the automated test results to prove the system's reliability.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Here's a high-level overview of the system architecture. It's a layered design. The client interacts with the API layer, which is built using FastAPI. FastAPI handles request validation and routing. The business logic layer contains the core functionality for authentication, CRUD operations, and analytics. Finally, the data access layer, using SQLAlchemy, communicates with the relational database, which can be SQLite for development or PostgreSQL for production.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data model is built around four core entities. The key design choice is the many-to-many relationship between combos and menu items, managed through a junction table called ComboItem. This allows us to track the exact quantity of each ingredient in a custom meal combo, which is essential for calculating accurate nutritional values.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surface is well-structured and organized into logical groups. We have endpoints for authentication, browsing public data like categories and menu items, the core CRUD operations for managing combos, and advanced analytics endpoints for data insights. The Swagger UI, which I'll show later, provides a complete interactive overview of all these endpoints.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walk through the core CRUD operations for meal combos. Creating a combo involves sending a POST request with a JSON body. Reading is done via GET requests. Updates can be full or partial, and deletion is straightforward. This demonstrates a complete lifecycle management for the core business resource.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Security is a top priority. The API uses JWT for authentication. This is a stateless mechanism, which is ideal for RESTful services. Users log in to get a token, which they then include in the header for any subsequent requests that modify data. This ensures that only authenticated users can create, update, or delete meal combos.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Beyond basic CRUD, the API offers creative analytical features. The most innovative is the 'protein density' metric, which ranks meal combos based on their protein-to-calorie ratio, providing users with a valuable insight into nutritional efficiency. The API also provides category summaries and advanced search capabilities, demonstrating the system's data analysis potential.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implements robust validation and error handling. Pydantic ensures all incoming data is valid. Errors are returned as structured JSON with standard HTTP status codes, making it easy for developers to understand and handle issues. For example, a 422 error clearly indicates a validation problem, while a 401 error points to an authentication issue.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ensure the quality and reliability of the API, I've implemented a comprehensive suite of automated tests using Pytest. These tests cover the entire authentication flow, the complete CRUD lifecycle, input validation, and even the calculations in the analytics endpoints. As you can see from the test results, all tests are passing, providing confidence in the system's stability.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Throughout the project, I maintained a clear commit history on GitHub, demonstrating an iterative development process. All required deliverables are complete and available. This includes the public GitHub repository, comprehensive API documentation in both interactive and PDF formats, a detailed technical report, and these presentation slides.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That concludes my presentation. I've demonstrated a fully functional, secure, and well-engineered Nutrition and Recipe Analytics API. I'm now happy to answer any questions you may have about the design, implementation, or any other aspect of the project. Thank you.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image" Target="../media/image21.svg"/><Relationship Id="rId8" Type="http://schemas.openxmlformats.org/officeDocument/2006/relationships/image" Target="../media/image20.png"/><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8" Type="http://schemas.openxmlformats.org/officeDocument/2006/relationships/notesSlide" Target="../notesSlides/notesSlide4.xml"/><Relationship Id="rId17" Type="http://schemas.openxmlformats.org/officeDocument/2006/relationships/slideLayout" Target="../slideLayouts/slideLayout12.xml"/><Relationship Id="rId16" Type="http://schemas.openxmlformats.org/officeDocument/2006/relationships/image" Target="../media/image28.png"/><Relationship Id="rId15" Type="http://schemas.openxmlformats.org/officeDocument/2006/relationships/image" Target="../media/image27.svg"/><Relationship Id="rId14" Type="http://schemas.openxmlformats.org/officeDocument/2006/relationships/image" Target="../media/image26.png"/><Relationship Id="rId13" Type="http://schemas.openxmlformats.org/officeDocument/2006/relationships/image" Target="../media/image25.svg"/><Relationship Id="rId12" Type="http://schemas.openxmlformats.org/officeDocument/2006/relationships/image" Target="../media/image24.png"/><Relationship Id="rId11" Type="http://schemas.openxmlformats.org/officeDocument/2006/relationships/image" Target="../media/image23.svg"/><Relationship Id="rId10" Type="http://schemas.openxmlformats.org/officeDocument/2006/relationships/image" Target="../media/image22.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29.png"/><Relationship Id="rId3" Type="http://schemas.openxmlformats.org/officeDocument/2006/relationships/image" Target="../media/image15.png"/><Relationship Id="rId2" Type="http://schemas.openxmlformats.org/officeDocument/2006/relationships/image" Target="../media/image14.png"/><Relationship Id="rId11" Type="http://schemas.openxmlformats.org/officeDocument/2006/relationships/notesSlide" Target="../notesSlides/notesSlide5.xml"/><Relationship Id="rId10" Type="http://schemas.openxmlformats.org/officeDocument/2006/relationships/slideLayout" Target="../slideLayouts/slideLayout12.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12.png"/><Relationship Id="rId4" Type="http://schemas.openxmlformats.org/officeDocument/2006/relationships/image" Target="../media/image7.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17.png"/><Relationship Id="rId4" Type="http://schemas.openxmlformats.org/officeDocument/2006/relationships/image" Target="../media/image30.png"/><Relationship Id="rId3" Type="http://schemas.openxmlformats.org/officeDocument/2006/relationships/image" Target="../media/image16.png"/><Relationship Id="rId2" Type="http://schemas.openxmlformats.org/officeDocument/2006/relationships/image" Target="../media/image29.png"/><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2.xml"/><Relationship Id="rId5" Type="http://schemas.openxmlformats.org/officeDocument/2006/relationships/image" Target="../media/image38.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29.png"/><Relationship Id="rId3" Type="http://schemas.openxmlformats.org/officeDocument/2006/relationships/image" Target="../media/image15.png"/><Relationship Id="rId2" Type="http://schemas.openxmlformats.org/officeDocument/2006/relationships/image" Target="../media/image14.png"/><Relationship Id="rId11" Type="http://schemas.openxmlformats.org/officeDocument/2006/relationships/notesSlide" Target="../notesSlides/notesSlide11.xml"/><Relationship Id="rId10" Type="http://schemas.openxmlformats.org/officeDocument/2006/relationships/slideLayout" Target="../slideLayouts/slideLayout1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7.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9" r="99"/>
          <a:stretch>
            <a:fillRect/>
          </a:stretch>
        </p:blipFill>
        <p:spPr>
          <a:xfrm rot="10800000" flipV="1">
            <a:off x="-774700" y="5638800"/>
            <a:ext cx="5105400" cy="6019800"/>
          </a:xfrm>
          <a:prstGeom prst="rect">
            <a:avLst/>
          </a:prstGeom>
          <a:noFill/>
          <a:ln w="25400" cap="flat" cmpd="sng">
            <a:noFill/>
            <a:prstDash val="solid"/>
            <a:round/>
          </a:ln>
        </p:spPr>
      </p:pic>
      <p:pic>
        <p:nvPicPr>
          <p:cNvPr id="3" name="Picture 3"/>
          <p:cNvPicPr>
            <a:picLocks noChangeAspect="1"/>
          </p:cNvPicPr>
          <p:nvPr/>
        </p:nvPicPr>
        <p:blipFill>
          <a:blip r:embed="rId2"/>
          <a:srcRect l="99" r="99"/>
          <a:stretch>
            <a:fillRect/>
          </a:stretch>
        </p:blipFill>
        <p:spPr>
          <a:xfrm rot="-720000" flipV="1">
            <a:off x="14147800" y="-1866900"/>
            <a:ext cx="5105400" cy="6019800"/>
          </a:xfrm>
          <a:prstGeom prst="rect">
            <a:avLst/>
          </a:prstGeom>
          <a:noFill/>
          <a:ln w="25400" cap="flat" cmpd="sng">
            <a:noFill/>
            <a:prstDash val="solid"/>
            <a:round/>
          </a:ln>
        </p:spPr>
      </p:pic>
      <p:pic>
        <p:nvPicPr>
          <p:cNvPr id="4" name="Picture 4"/>
          <p:cNvPicPr>
            <a:picLocks noChangeAspect="1"/>
          </p:cNvPicPr>
          <p:nvPr/>
        </p:nvPicPr>
        <p:blipFill>
          <a:blip r:embed="rId3"/>
          <a:srcRect l="99" r="99"/>
          <a:stretch>
            <a:fillRect/>
          </a:stretch>
        </p:blipFill>
        <p:spPr>
          <a:xfrm rot="10800000" flipV="1">
            <a:off x="-546100" y="6807200"/>
            <a:ext cx="5105400" cy="6019800"/>
          </a:xfrm>
          <a:prstGeom prst="rect">
            <a:avLst/>
          </a:prstGeom>
          <a:noFill/>
          <a:ln w="25400" cap="flat" cmpd="sng">
            <a:noFill/>
            <a:prstDash val="solid"/>
            <a:round/>
          </a:ln>
        </p:spPr>
      </p:pic>
      <p:pic>
        <p:nvPicPr>
          <p:cNvPr id="5" name="Picture 5"/>
          <p:cNvPicPr>
            <a:picLocks noChangeAspect="1"/>
          </p:cNvPicPr>
          <p:nvPr/>
        </p:nvPicPr>
        <p:blipFill>
          <a:blip r:embed="rId4"/>
          <a:srcRect l="99" r="99"/>
          <a:stretch>
            <a:fillRect/>
          </a:stretch>
        </p:blipFill>
        <p:spPr>
          <a:xfrm rot="-720000" flipV="1">
            <a:off x="13690600" y="-2959100"/>
            <a:ext cx="5105400" cy="6019800"/>
          </a:xfrm>
          <a:prstGeom prst="rect">
            <a:avLst/>
          </a:prstGeom>
          <a:noFill/>
          <a:ln w="25400" cap="flat" cmpd="sng">
            <a:noFill/>
            <a:prstDash val="solid"/>
            <a:round/>
          </a:ln>
        </p:spPr>
      </p:pic>
      <p:pic>
        <p:nvPicPr>
          <p:cNvPr id="6" name="Picture 6"/>
          <p:cNvPicPr>
            <a:picLocks noChangeAspect="1"/>
          </p:cNvPicPr>
          <p:nvPr/>
        </p:nvPicPr>
        <p:blipFill>
          <a:blip r:embed="rId5"/>
          <a:srcRect t="42" b="42"/>
          <a:stretch>
            <a:fillRect/>
          </a:stretch>
        </p:blipFill>
        <p:spPr>
          <a:xfrm>
            <a:off x="11099800" y="2628900"/>
            <a:ext cx="6743700" cy="6883400"/>
          </a:xfrm>
          <a:prstGeom prst="rect">
            <a:avLst/>
          </a:prstGeom>
          <a:noFill/>
          <a:ln w="25400" cap="flat" cmpd="sng">
            <a:noFill/>
            <a:prstDash val="solid"/>
            <a:round/>
          </a:ln>
        </p:spPr>
      </p:pic>
      <p:sp>
        <p:nvSpPr>
          <p:cNvPr id="7" name="Freeform 7"/>
          <p:cNvSpPr/>
          <p:nvPr/>
        </p:nvSpPr>
        <p:spPr>
          <a:xfrm>
            <a:off x="2857500" y="90170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5570200" y="10287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7665700" y="2451100"/>
            <a:ext cx="178255" cy="178255"/>
          </a:xfrm>
          <a:custGeom>
            <a:avLst/>
            <a:gdLst/>
            <a:ahLst/>
            <a:cxnLst/>
            <a:rect l="l" t="t" r="r" b="b"/>
            <a:pathLst>
              <a:path w="178255" h="178255">
                <a:moveTo>
                  <a:pt x="89127" y="0"/>
                </a:moveTo>
                <a:cubicBezTo>
                  <a:pt x="39903" y="0"/>
                  <a:pt x="0" y="39903"/>
                  <a:pt x="0" y="89127"/>
                </a:cubicBezTo>
                <a:cubicBezTo>
                  <a:pt x="0" y="138351"/>
                  <a:pt x="39903" y="178255"/>
                  <a:pt x="89127" y="178255"/>
                </a:cubicBezTo>
                <a:cubicBezTo>
                  <a:pt x="138351" y="178255"/>
                  <a:pt x="178255" y="138351"/>
                  <a:pt x="178255" y="89127"/>
                </a:cubicBezTo>
                <a:cubicBezTo>
                  <a:pt x="178255" y="39903"/>
                  <a:pt x="138351" y="0"/>
                  <a:pt x="89127"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2273300" y="80645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2006600" y="2794000"/>
            <a:ext cx="10160000" cy="2286000"/>
          </a:xfrm>
          <a:prstGeom prst="rect">
            <a:avLst/>
          </a:prstGeom>
          <a:noFill/>
          <a:ln w="19050" cap="flat" cmpd="sng">
            <a:noFill/>
            <a:prstDash val="solid"/>
            <a:round/>
          </a:ln>
        </p:spPr>
        <p:txBody>
          <a:bodyPr vert="horz" wrap="square" lIns="0" tIns="0" rIns="0" bIns="0" rtlCol="0" anchor="ctr" anchorCtr="0"/>
          <a:lstStyle/>
          <a:p>
            <a:pPr indent="0" algn="l">
              <a:lnSpc>
                <a:spcPct val="92000"/>
              </a:lnSpc>
              <a:defRPr/>
            </a:pPr>
            <a:r>
              <a:rPr lang="en-US" sz="6400" b="1" i="0" u="none" strike="noStrike">
                <a:solidFill>
                  <a:srgbClr val="305BA4"/>
                </a:solidFill>
                <a:latin typeface="Fredoka"/>
                <a:ea typeface="Fredoka"/>
                <a:cs typeface="Fredoka"/>
                <a:sym typeface="Fredoka"/>
              </a:rPr>
              <a:t>Nutrition &amp; Recipe</a:t>
            </a:r>
            <a:br>
              <a:rPr lang="en-US" sz="6400" b="1" i="0" u="none" strike="noStrike">
                <a:solidFill>
                  <a:srgbClr val="305BA4"/>
                </a:solidFill>
                <a:latin typeface="Fredoka"/>
                <a:ea typeface="Fredoka"/>
                <a:cs typeface="Fredoka"/>
                <a:sym typeface="Fredoka"/>
              </a:rPr>
            </a:br>
            <a:r>
              <a:rPr lang="en-US" sz="6400" b="1" i="0" u="none" strike="noStrike">
                <a:solidFill>
                  <a:srgbClr val="305BA4"/>
                </a:solidFill>
                <a:latin typeface="Fredoka"/>
                <a:ea typeface="Fredoka"/>
                <a:cs typeface="Fredoka"/>
                <a:sym typeface="Fredoka"/>
              </a:rPr>
              <a:t>Analytics API</a:t>
            </a:r>
            <a:endParaRPr lang="en-US" sz="1100"/>
          </a:p>
        </p:txBody>
      </p:sp>
      <p:sp>
        <p:nvSpPr>
          <p:cNvPr id="12" name="AutoShape 12"/>
          <p:cNvSpPr/>
          <p:nvPr/>
        </p:nvSpPr>
        <p:spPr>
          <a:xfrm>
            <a:off x="2006600" y="5334000"/>
            <a:ext cx="10160000" cy="635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05BA4"/>
                </a:solidFill>
                <a:latin typeface="Poppins"/>
                <a:ea typeface="Poppins"/>
                <a:cs typeface="Poppins"/>
                <a:sym typeface="Poppins"/>
              </a:rPr>
              <a:t>Coursework 1: XJCO3011 Web Services and Web Data</a:t>
            </a:r>
            <a:endParaRPr lang="en-US" sz="1100"/>
          </a:p>
        </p:txBody>
      </p:sp>
      <p:sp>
        <p:nvSpPr>
          <p:cNvPr id="13" name="AutoShape 13"/>
          <p:cNvSpPr/>
          <p:nvPr/>
        </p:nvSpPr>
        <p:spPr>
          <a:xfrm>
            <a:off x="2006600" y="6223000"/>
            <a:ext cx="8890000" cy="1976755"/>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000" b="1" i="0" u="none" strike="noStrike">
                <a:solidFill>
                  <a:srgbClr val="3C3C3C"/>
                </a:solidFill>
                <a:latin typeface="Noto Sans SC"/>
                <a:ea typeface="Noto Sans SC"/>
                <a:cs typeface="Noto Sans SC"/>
                <a:sym typeface="Noto Sans SC"/>
              </a:rPr>
              <a:t>Author: Hengyu Jin</a:t>
            </a:r>
            <a:endParaRPr lang="en-US" sz="1600"/>
          </a:p>
          <a:p>
            <a:pPr indent="0" algn="l">
              <a:lnSpc>
                <a:spcPct val="125000"/>
              </a:lnSpc>
            </a:pPr>
            <a:r>
              <a:rPr lang="en-US" sz="2000" b="1" i="0" u="none" strike="noStrike">
                <a:solidFill>
                  <a:srgbClr val="3C3C3C"/>
                </a:solidFill>
                <a:latin typeface="Noto Sans SC"/>
                <a:ea typeface="Noto Sans SC"/>
                <a:cs typeface="Noto Sans SC"/>
                <a:sym typeface="Noto Sans SC"/>
              </a:rPr>
              <a:t>Date: </a:t>
            </a:r>
            <a:r>
              <a:rPr lang="en-US" sz="2000" b="0" i="0" u="none" strike="noStrike">
                <a:solidFill>
                  <a:srgbClr val="3C3C3C"/>
                </a:solidFill>
                <a:latin typeface="Noto Sans SC"/>
                <a:ea typeface="Noto Sans SC"/>
                <a:cs typeface="Noto Sans SC"/>
                <a:sym typeface="Noto Sans SC"/>
              </a:rPr>
              <a:t>21 April 2026</a:t>
            </a:r>
            <a:endParaRPr lang="en-US" sz="2000" b="0" i="0" u="none" strike="noStrike">
              <a:solidFill>
                <a:srgbClr val="3C3C3C"/>
              </a:solidFill>
              <a:latin typeface="Noto Sans SC"/>
              <a:ea typeface="Noto Sans SC"/>
              <a:cs typeface="Noto Sans SC"/>
              <a:sym typeface="Noto Sans SC"/>
            </a:endParaRPr>
          </a:p>
          <a:p>
            <a:pPr indent="0" algn="l">
              <a:lnSpc>
                <a:spcPct val="125000"/>
              </a:lnSpc>
            </a:pPr>
            <a:r>
              <a:rPr lang="en-US" sz="2000" b="1" i="0" u="none" strike="noStrike">
                <a:solidFill>
                  <a:srgbClr val="3C3C3C"/>
                </a:solidFill>
                <a:latin typeface="Noto Sans SC"/>
                <a:ea typeface="Noto Sans SC"/>
                <a:cs typeface="Noto Sans SC"/>
                <a:sym typeface="Noto Sans SC"/>
              </a:rPr>
              <a:t>GitHub: </a:t>
            </a:r>
            <a:r>
              <a:rPr lang="en-US" altLang="zh-CN" sz="2000" b="0" i="0" u="none" strike="noStrike">
                <a:solidFill>
                  <a:srgbClr val="3C3C3C"/>
                </a:solidFill>
                <a:latin typeface="Noto Sans SC"/>
                <a:ea typeface="Noto Sans SC"/>
                <a:cs typeface="Noto Sans SC"/>
                <a:sym typeface="Noto Sans SC"/>
              </a:rPr>
              <a:t>https://github.com/jinjerry123456/nutrition-recipe-api.git</a:t>
            </a:r>
            <a:endParaRPr lang="en-US" altLang="zh-CN" sz="2000" b="0" i="0" u="none" strike="noStrike">
              <a:solidFill>
                <a:srgbClr val="3C3C3C"/>
              </a:solidFill>
              <a:latin typeface="Noto Sans SC"/>
              <a:ea typeface="Noto Sans SC"/>
              <a:cs typeface="Noto Sans SC"/>
              <a:sym typeface="Noto Sans SC"/>
            </a:endParaRPr>
          </a:p>
          <a:p>
            <a:pPr indent="0" algn="l">
              <a:lnSpc>
                <a:spcPct val="125000"/>
              </a:lnSpc>
            </a:pPr>
            <a:r>
              <a:rPr lang="en-US" altLang="zh-CN" sz="2000" b="1" i="0" u="none" strike="noStrike">
                <a:solidFill>
                  <a:srgbClr val="3C3C3C"/>
                </a:solidFill>
                <a:latin typeface="Noto Sans SC"/>
                <a:ea typeface="Noto Sans SC"/>
                <a:cs typeface="Noto Sans SC"/>
                <a:sym typeface="Noto Sans SC"/>
              </a:rPr>
              <a:t>Render: </a:t>
            </a:r>
            <a:r>
              <a:rPr lang="en-US" altLang="zh-CN" sz="2000" i="0" u="none" strike="noStrike">
                <a:solidFill>
                  <a:srgbClr val="3C3C3C"/>
                </a:solidFill>
                <a:latin typeface="Noto Sans SC"/>
                <a:ea typeface="Noto Sans SC"/>
                <a:cs typeface="Noto Sans SC"/>
                <a:sym typeface="Noto Sans SC"/>
              </a:rPr>
              <a:t>https://mcdonalds-api-jhd9.onrender.com</a:t>
            </a:r>
            <a:endParaRPr lang="en-US" altLang="zh-CN" sz="2000" i="0" u="none" strike="noStrike">
              <a:solidFill>
                <a:srgbClr val="3C3C3C"/>
              </a:solidFill>
              <a:latin typeface="Noto Sans SC"/>
              <a:ea typeface="Noto Sans SC"/>
              <a:cs typeface="Noto Sans SC"/>
              <a:sym typeface="Noto Sans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8235315"/>
            <a:ext cx="8871863" cy="1766255"/>
          </a:xfrm>
          <a:custGeom>
            <a:avLst/>
            <a:gdLst/>
            <a:ahLst/>
            <a:cxnLst/>
            <a:rect l="l" t="t" r="r" b="b"/>
            <a:pathLst>
              <a:path w="8871863" h="1766255">
                <a:moveTo>
                  <a:pt x="4435931" y="0"/>
                </a:moveTo>
                <a:cubicBezTo>
                  <a:pt x="1986029" y="0"/>
                  <a:pt x="0" y="395393"/>
                  <a:pt x="0" y="883128"/>
                </a:cubicBezTo>
                <a:cubicBezTo>
                  <a:pt x="0" y="1370874"/>
                  <a:pt x="1986029" y="1766255"/>
                  <a:pt x="4435931" y="1766255"/>
                </a:cubicBezTo>
                <a:cubicBezTo>
                  <a:pt x="6885835" y="1766255"/>
                  <a:pt x="8871863" y="1370874"/>
                  <a:pt x="8871863" y="883128"/>
                </a:cubicBezTo>
                <a:cubicBezTo>
                  <a:pt x="8871863" y="395393"/>
                  <a:pt x="6885835" y="0"/>
                  <a:pt x="443593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l="33" r="33"/>
          <a:stretch>
            <a:fillRect/>
          </a:stretch>
        </p:blipFill>
        <p:spPr>
          <a:xfrm>
            <a:off x="2326640" y="2241550"/>
            <a:ext cx="4642485" cy="6821805"/>
          </a:xfrm>
          <a:prstGeom prst="rect">
            <a:avLst/>
          </a:prstGeom>
          <a:noFill/>
          <a:ln w="25400" cap="flat" cmpd="sng">
            <a:noFill/>
            <a:prstDash val="solid"/>
            <a:round/>
          </a:ln>
        </p:spPr>
      </p:pic>
      <p:pic>
        <p:nvPicPr>
          <p:cNvPr id="4" name="Picture 4"/>
          <p:cNvPicPr>
            <a:picLocks noChangeAspect="1"/>
          </p:cNvPicPr>
          <p:nvPr/>
        </p:nvPicPr>
        <p:blipFill>
          <a:blip r:embed="rId2"/>
          <a:srcRect l="99" r="99"/>
          <a:stretch>
            <a:fillRect/>
          </a:stretch>
        </p:blipFill>
        <p:spPr>
          <a:xfrm rot="-1920000" flipV="1">
            <a:off x="13919200" y="-1943100"/>
            <a:ext cx="5105400" cy="6019800"/>
          </a:xfrm>
          <a:prstGeom prst="rect">
            <a:avLst/>
          </a:prstGeom>
          <a:noFill/>
          <a:ln w="25400" cap="flat" cmpd="sng">
            <a:noFill/>
            <a:prstDash val="solid"/>
            <a:round/>
          </a:ln>
        </p:spPr>
      </p:pic>
      <p:pic>
        <p:nvPicPr>
          <p:cNvPr id="5" name="Picture 5"/>
          <p:cNvPicPr>
            <a:picLocks noChangeAspect="1"/>
          </p:cNvPicPr>
          <p:nvPr/>
        </p:nvPicPr>
        <p:blipFill>
          <a:blip r:embed="rId3"/>
          <a:srcRect l="99" r="99"/>
          <a:stretch>
            <a:fillRect/>
          </a:stretch>
        </p:blipFill>
        <p:spPr>
          <a:xfrm rot="-4080000" flipV="1">
            <a:off x="-50800" y="-2146300"/>
            <a:ext cx="5105400" cy="6019800"/>
          </a:xfrm>
          <a:prstGeom prst="rect">
            <a:avLst/>
          </a:prstGeom>
          <a:noFill/>
          <a:ln w="25400" cap="flat" cmpd="sng">
            <a:noFill/>
            <a:prstDash val="solid"/>
            <a:round/>
          </a:ln>
        </p:spPr>
      </p:pic>
      <p:pic>
        <p:nvPicPr>
          <p:cNvPr id="6" name="Picture 6"/>
          <p:cNvPicPr>
            <a:picLocks noChangeAspect="1"/>
          </p:cNvPicPr>
          <p:nvPr/>
        </p:nvPicPr>
        <p:blipFill>
          <a:blip r:embed="rId4"/>
          <a:srcRect l="99" r="99"/>
          <a:stretch>
            <a:fillRect/>
          </a:stretch>
        </p:blipFill>
        <p:spPr>
          <a:xfrm rot="-1920000" flipV="1">
            <a:off x="13119100" y="-2819400"/>
            <a:ext cx="5105400" cy="6019800"/>
          </a:xfrm>
          <a:prstGeom prst="rect">
            <a:avLst/>
          </a:prstGeom>
          <a:noFill/>
          <a:ln w="25400" cap="flat" cmpd="sng">
            <a:noFill/>
            <a:prstDash val="solid"/>
            <a:round/>
          </a:ln>
        </p:spPr>
      </p:pic>
      <p:pic>
        <p:nvPicPr>
          <p:cNvPr id="7" name="Picture 7"/>
          <p:cNvPicPr>
            <a:picLocks noChangeAspect="1"/>
          </p:cNvPicPr>
          <p:nvPr/>
        </p:nvPicPr>
        <p:blipFill>
          <a:blip r:embed="rId5"/>
          <a:srcRect l="99" r="99"/>
          <a:stretch>
            <a:fillRect/>
          </a:stretch>
        </p:blipFill>
        <p:spPr>
          <a:xfrm rot="-4080000" flipV="1">
            <a:off x="-1231900" y="-2387600"/>
            <a:ext cx="5105400" cy="6019800"/>
          </a:xfrm>
          <a:prstGeom prst="rect">
            <a:avLst/>
          </a:prstGeom>
          <a:noFill/>
          <a:ln w="25400" cap="flat" cmpd="sng">
            <a:noFill/>
            <a:prstDash val="solid"/>
            <a:round/>
          </a:ln>
        </p:spPr>
      </p:pic>
      <p:sp>
        <p:nvSpPr>
          <p:cNvPr id="8" name="Freeform 8"/>
          <p:cNvSpPr/>
          <p:nvPr/>
        </p:nvSpPr>
        <p:spPr>
          <a:xfrm rot="8880000">
            <a:off x="14897100" y="10668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rot="8880000">
            <a:off x="15430500" y="13081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rot="6720000">
            <a:off x="1308100" y="16383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rot="6720000">
            <a:off x="1955800" y="13589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10960" y="903605"/>
            <a:ext cx="7366000" cy="1270000"/>
          </a:xfrm>
          <a:prstGeom prst="rect">
            <a:avLst/>
          </a:prstGeom>
          <a:noFill/>
          <a:ln w="19050" cap="flat" cmpd="sng">
            <a:noFill/>
            <a:prstDash val="solid"/>
            <a:round/>
          </a:ln>
        </p:spPr>
        <p:txBody>
          <a:bodyPr vert="horz" wrap="square" lIns="0" tIns="0" rIns="0" bIns="0" rtlCol="0" anchor="ctr" anchorCtr="0"/>
          <a:lstStyle/>
          <a:p>
            <a:pPr indent="0" algn="l">
              <a:lnSpc>
                <a:spcPct val="92000"/>
              </a:lnSpc>
              <a:defRPr/>
            </a:pPr>
            <a:r>
              <a:rPr lang="en-US" sz="4800" b="1" i="0" u="none" strike="noStrike">
                <a:solidFill>
                  <a:srgbClr val="305BA4"/>
                </a:solidFill>
                <a:latin typeface="Fredoka"/>
                <a:ea typeface="Fredoka"/>
                <a:cs typeface="Fredoka"/>
                <a:sym typeface="Fredoka"/>
              </a:rPr>
              <a:t>Problem &amp; Project Goals</a:t>
            </a:r>
            <a:endParaRPr lang="en-US" sz="4800" b="1" i="0" u="none" strike="noStrike">
              <a:solidFill>
                <a:srgbClr val="305BA4"/>
              </a:solidFill>
              <a:latin typeface="Fredoka"/>
              <a:ea typeface="Fredoka"/>
              <a:cs typeface="Fredoka"/>
              <a:sym typeface="Fredoka"/>
            </a:endParaRPr>
          </a:p>
        </p:txBody>
      </p:sp>
      <p:sp>
        <p:nvSpPr>
          <p:cNvPr id="13" name="AutoShape 13"/>
          <p:cNvSpPr/>
          <p:nvPr/>
        </p:nvSpPr>
        <p:spPr>
          <a:xfrm>
            <a:off x="8335645" y="2480945"/>
            <a:ext cx="9952355" cy="4806950"/>
          </a:xfrm>
          <a:prstGeom prst="rect">
            <a:avLst/>
          </a:prstGeom>
          <a:noFill/>
          <a:ln w="19050" cap="flat" cmpd="sng">
            <a:noFill/>
            <a:prstDash val="solid"/>
            <a:round/>
          </a:ln>
        </p:spPr>
        <p:txBody>
          <a:bodyPr vert="horz" wrap="square" lIns="0" tIns="0" rIns="0" bIns="0" rtlCol="0" anchor="t" anchorCtr="0"/>
          <a:lstStyle/>
          <a:p>
            <a:pPr indent="0" algn="l">
              <a:lnSpc>
                <a:spcPct val="100000"/>
              </a:lnSpc>
              <a:spcBef>
                <a:spcPts val="600"/>
              </a:spcBef>
              <a:defRPr/>
            </a:pPr>
            <a:r>
              <a:rPr lang="en-US" sz="3200" b="1" i="0" u="none" strike="noStrike">
                <a:solidFill>
                  <a:srgbClr val="305BA4"/>
                </a:solidFill>
                <a:latin typeface="Noto Sans SC"/>
                <a:ea typeface="Noto Sans SC"/>
                <a:cs typeface="Noto Sans SC"/>
                <a:sym typeface="Noto Sans SC"/>
              </a:rPr>
              <a:t>PROBLEM STATEMENT</a:t>
            </a:r>
            <a:endParaRPr lang="en-US" sz="2400"/>
          </a:p>
          <a:p>
            <a:pPr indent="0" algn="l">
              <a:lnSpc>
                <a:spcPct val="100000"/>
              </a:lnSpc>
            </a:pPr>
            <a:r>
              <a:rPr lang="en-US" sz="2400" b="0" i="0" u="none" strike="noStrike">
                <a:solidFill>
                  <a:srgbClr val="3C3C3C"/>
                </a:solidFill>
                <a:latin typeface="Noto Sans SC"/>
                <a:ea typeface="Noto Sans SC"/>
                <a:cs typeface="Noto Sans SC"/>
                <a:sym typeface="Noto Sans SC"/>
              </a:rPr>
              <a:t>Design a data-driven web API with full database integration, implementing essential CRUD operations while showcasing advanced system architecture features.</a:t>
            </a:r>
            <a:endParaRPr lang="en-US" sz="2400" b="0" i="0" u="none" strike="noStrike">
              <a:solidFill>
                <a:srgbClr val="3C3C3C"/>
              </a:solidFill>
              <a:latin typeface="Noto Sans SC"/>
              <a:ea typeface="Noto Sans SC"/>
              <a:cs typeface="Noto Sans SC"/>
              <a:sym typeface="Noto Sans SC"/>
            </a:endParaRPr>
          </a:p>
          <a:p>
            <a:pPr indent="0" algn="l">
              <a:lnSpc>
                <a:spcPct val="100000"/>
              </a:lnSpc>
            </a:pPr>
            <a:endParaRPr lang="en-US" sz="2400" b="0" i="0" u="none" strike="noStrike">
              <a:solidFill>
                <a:srgbClr val="3C3C3C"/>
              </a:solidFill>
              <a:latin typeface="Noto Sans SC"/>
              <a:ea typeface="Noto Sans SC"/>
              <a:cs typeface="Noto Sans SC"/>
              <a:sym typeface="Noto Sans SC"/>
            </a:endParaRPr>
          </a:p>
          <a:p>
            <a:pPr indent="0" algn="l">
              <a:lnSpc>
                <a:spcPct val="100000"/>
              </a:lnSpc>
              <a:spcBef>
                <a:spcPts val="800"/>
              </a:spcBef>
            </a:pPr>
            <a:r>
              <a:rPr lang="en-US" sz="3200" b="1" i="0" u="none" strike="noStrike">
                <a:solidFill>
                  <a:srgbClr val="305BA4"/>
                </a:solidFill>
                <a:latin typeface="Noto Sans SC"/>
                <a:ea typeface="Noto Sans SC"/>
                <a:cs typeface="Noto Sans SC"/>
                <a:sym typeface="Noto Sans SC"/>
              </a:rPr>
              <a:t>CORE PROJECT GOAL</a:t>
            </a:r>
            <a:endParaRPr lang="en-US" sz="3200" b="1" i="0" u="none" strike="noStrike">
              <a:solidFill>
                <a:srgbClr val="305BA4"/>
              </a:solidFill>
              <a:latin typeface="Noto Sans SC"/>
              <a:ea typeface="Noto Sans SC"/>
              <a:cs typeface="Noto Sans SC"/>
              <a:sym typeface="Noto Sans SC"/>
            </a:endParaRPr>
          </a:p>
          <a:p>
            <a:pPr indent="0" algn="l">
              <a:lnSpc>
                <a:spcPct val="100000"/>
              </a:lnSpc>
            </a:pPr>
            <a:r>
              <a:rPr lang="en-US" sz="2400" b="0" i="0" u="none" strike="noStrike">
                <a:solidFill>
                  <a:srgbClr val="3C3C3C"/>
                </a:solidFill>
                <a:latin typeface="Noto Sans SC"/>
                <a:ea typeface="Noto Sans SC"/>
                <a:cs typeface="Noto Sans SC"/>
                <a:sym typeface="Noto Sans SC"/>
              </a:rPr>
              <a:t>Build a production-ready, scalable API for nutritional analysis and custom meal combo management, adhering to enterprise-level quality standards.</a:t>
            </a:r>
            <a:endParaRPr lang="en-US" sz="2400" b="0" i="0" u="none" strike="noStrike">
              <a:solidFill>
                <a:srgbClr val="3C3C3C"/>
              </a:solidFill>
              <a:latin typeface="Noto Sans SC"/>
              <a:ea typeface="Noto Sans SC"/>
              <a:cs typeface="Noto Sans SC"/>
              <a:sym typeface="Noto Sans SC"/>
            </a:endParaRPr>
          </a:p>
          <a:p>
            <a:pPr indent="0" algn="l">
              <a:lnSpc>
                <a:spcPct val="100000"/>
              </a:lnSpc>
              <a:spcBef>
                <a:spcPts val="800"/>
              </a:spcBef>
            </a:pPr>
            <a:endParaRPr lang="en-US" sz="3200" b="1" i="0" u="none" strike="noStrike">
              <a:solidFill>
                <a:srgbClr val="305BA4"/>
              </a:solidFill>
              <a:latin typeface="Noto Sans SC"/>
              <a:ea typeface="Noto Sans SC"/>
              <a:cs typeface="Noto Sans SC"/>
              <a:sym typeface="Noto Sans SC"/>
            </a:endParaRPr>
          </a:p>
          <a:p>
            <a:pPr indent="0" algn="l">
              <a:lnSpc>
                <a:spcPct val="100000"/>
              </a:lnSpc>
              <a:spcBef>
                <a:spcPts val="800"/>
              </a:spcBef>
            </a:pPr>
            <a:r>
              <a:rPr lang="en-US" sz="3200" b="1" i="0" u="none" strike="noStrike">
                <a:solidFill>
                  <a:srgbClr val="305BA4"/>
                </a:solidFill>
                <a:latin typeface="Noto Sans SC"/>
                <a:ea typeface="Noto Sans SC"/>
                <a:cs typeface="Noto Sans SC"/>
                <a:sym typeface="Noto Sans SC"/>
              </a:rPr>
              <a:t>KEY REQUIREMENTS</a:t>
            </a:r>
            <a:endParaRPr lang="en-US" sz="3200" b="1" i="0" u="none" strike="noStrike">
              <a:solidFill>
                <a:srgbClr val="305BA4"/>
              </a:solidFill>
              <a:latin typeface="Noto Sans SC"/>
              <a:ea typeface="Noto Sans SC"/>
              <a:cs typeface="Noto Sans SC"/>
              <a:sym typeface="Noto Sans SC"/>
            </a:endParaRPr>
          </a:p>
          <a:p>
            <a:pPr indent="0" algn="l">
              <a:lnSpc>
                <a:spcPct val="100000"/>
              </a:lnSpc>
            </a:pPr>
            <a:r>
              <a:rPr lang="en-US" sz="2400" b="0" i="0" u="none" strike="noStrike">
                <a:solidFill>
                  <a:srgbClr val="3C3C3C"/>
                </a:solidFill>
                <a:latin typeface="Noto Sans SC"/>
                <a:ea typeface="Noto Sans SC"/>
                <a:cs typeface="Noto Sans SC"/>
                <a:sym typeface="Noto Sans SC"/>
              </a:rPr>
              <a:t>• Full CRUD for `Combo` resource </a:t>
            </a:r>
            <a:endParaRPr lang="en-US" sz="2400" b="0" i="0" u="none" strike="noStrike">
              <a:solidFill>
                <a:srgbClr val="3C3C3C"/>
              </a:solidFill>
              <a:latin typeface="Noto Sans SC"/>
              <a:ea typeface="Noto Sans SC"/>
              <a:cs typeface="Noto Sans SC"/>
              <a:sym typeface="Noto Sans SC"/>
            </a:endParaRPr>
          </a:p>
          <a:p>
            <a:pPr indent="0" algn="l">
              <a:lnSpc>
                <a:spcPct val="100000"/>
              </a:lnSpc>
            </a:pPr>
            <a:r>
              <a:rPr lang="en-US" sz="2400" b="0" i="0" u="none" strike="noStrike">
                <a:solidFill>
                  <a:srgbClr val="3C3C3C"/>
                </a:solidFill>
                <a:latin typeface="Noto Sans SC"/>
                <a:ea typeface="Noto Sans SC"/>
                <a:cs typeface="Noto Sans SC"/>
                <a:sym typeface="Noto Sans SC"/>
              </a:rPr>
              <a:t>• Secure JWT Auth &amp; Permissions</a:t>
            </a:r>
            <a:br>
              <a:rPr lang="en-US" sz="3600" b="0" i="0" u="none" strike="noStrike">
                <a:solidFill>
                  <a:srgbClr val="1F2329"/>
                </a:solidFill>
                <a:latin typeface="Noto Sans SC"/>
                <a:ea typeface="Noto Sans SC"/>
                <a:cs typeface="Noto Sans SC"/>
                <a:sym typeface="Noto Sans SC"/>
              </a:rPr>
            </a:br>
            <a:r>
              <a:rPr lang="en-US" sz="2400" b="0" i="0" u="none" strike="noStrike">
                <a:solidFill>
                  <a:srgbClr val="3C3C3C"/>
                </a:solidFill>
                <a:latin typeface="Noto Sans SC"/>
                <a:ea typeface="Noto Sans SC"/>
                <a:cs typeface="Noto Sans SC"/>
                <a:sym typeface="Noto Sans SC"/>
              </a:rPr>
              <a:t>• Comprehensive docs &amp; unit testing </a:t>
            </a:r>
            <a:endParaRPr lang="en-US" sz="2400" b="0" i="0" u="none" strike="noStrike">
              <a:solidFill>
                <a:srgbClr val="3C3C3C"/>
              </a:solidFill>
              <a:latin typeface="Noto Sans SC"/>
              <a:ea typeface="Noto Sans SC"/>
              <a:cs typeface="Noto Sans SC"/>
              <a:sym typeface="Noto Sans SC"/>
            </a:endParaRPr>
          </a:p>
          <a:p>
            <a:pPr indent="0" algn="l">
              <a:lnSpc>
                <a:spcPct val="100000"/>
              </a:lnSpc>
            </a:pPr>
            <a:r>
              <a:rPr lang="en-US" sz="2400" b="0" i="0" u="none" strike="noStrike">
                <a:solidFill>
                  <a:srgbClr val="3C3C3C"/>
                </a:solidFill>
                <a:latin typeface="Noto Sans SC"/>
                <a:ea typeface="Noto Sans SC"/>
                <a:cs typeface="Noto Sans SC"/>
                <a:sym typeface="Noto Sans SC"/>
              </a:rPr>
              <a:t>• RESTful principles &amp; Clean Code</a:t>
            </a:r>
            <a:endParaRPr lang="en-US" sz="2400" b="0" i="0" u="none" strike="noStrike">
              <a:solidFill>
                <a:srgbClr val="3C3C3C"/>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133475" y="1137285"/>
            <a:ext cx="17154525" cy="8549640"/>
          </a:xfrm>
          <a:prstGeom prst="rect">
            <a:avLst/>
          </a:prstGeom>
          <a:noFill/>
          <a:ln w="25400" cap="flat" cmpd="sng">
            <a:noFill/>
            <a:prstDash val="solid"/>
            <a:round/>
          </a:ln>
        </p:spPr>
      </p:pic>
      <p:pic>
        <p:nvPicPr>
          <p:cNvPr id="3" name="Picture 3"/>
          <p:cNvPicPr>
            <a:picLocks noChangeAspect="1"/>
          </p:cNvPicPr>
          <p:nvPr/>
        </p:nvPicPr>
        <p:blipFill>
          <a:blip r:embed="rId2"/>
          <a:srcRect/>
          <a:stretch>
            <a:fillRect/>
          </a:stretch>
        </p:blipFill>
        <p:spPr>
          <a:xfrm rot="10800000" flipV="1">
            <a:off x="-774700" y="5638800"/>
            <a:ext cx="5105400" cy="6019800"/>
          </a:xfrm>
          <a:prstGeom prst="rect">
            <a:avLst/>
          </a:prstGeom>
          <a:noFill/>
          <a:ln w="25400" cap="flat" cmpd="sng">
            <a:noFill/>
            <a:prstDash val="solid"/>
            <a:round/>
          </a:ln>
        </p:spPr>
      </p:pic>
      <p:pic>
        <p:nvPicPr>
          <p:cNvPr id="4" name="Picture 4"/>
          <p:cNvPicPr>
            <a:picLocks noChangeAspect="1"/>
          </p:cNvPicPr>
          <p:nvPr/>
        </p:nvPicPr>
        <p:blipFill>
          <a:blip r:embed="rId3"/>
          <a:srcRect/>
          <a:stretch>
            <a:fillRect/>
          </a:stretch>
        </p:blipFill>
        <p:spPr>
          <a:xfrm rot="-540000" flipV="1">
            <a:off x="13855700" y="-990600"/>
            <a:ext cx="5105400" cy="60198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rot="10800000" flipV="1">
            <a:off x="-546100" y="6807200"/>
            <a:ext cx="5105400" cy="6019800"/>
          </a:xfrm>
          <a:prstGeom prst="rect">
            <a:avLst/>
          </a:prstGeom>
          <a:noFill/>
          <a:ln w="25400" cap="flat" cmpd="sng">
            <a:noFill/>
            <a:prstDash val="solid"/>
            <a:round/>
          </a:ln>
        </p:spPr>
      </p:pic>
      <p:pic>
        <p:nvPicPr>
          <p:cNvPr id="6" name="Picture 6"/>
          <p:cNvPicPr>
            <a:picLocks noChangeAspect="1"/>
          </p:cNvPicPr>
          <p:nvPr/>
        </p:nvPicPr>
        <p:blipFill>
          <a:blip r:embed="rId5"/>
          <a:srcRect/>
          <a:stretch>
            <a:fillRect/>
          </a:stretch>
        </p:blipFill>
        <p:spPr>
          <a:xfrm rot="-540000" flipV="1">
            <a:off x="13462000" y="-2108200"/>
            <a:ext cx="5105400" cy="6019800"/>
          </a:xfrm>
          <a:prstGeom prst="rect">
            <a:avLst/>
          </a:prstGeom>
          <a:noFill/>
          <a:ln w="25400" cap="flat" cmpd="sng">
            <a:noFill/>
            <a:prstDash val="solid"/>
            <a:round/>
          </a:ln>
        </p:spPr>
      </p:pic>
      <p:sp>
        <p:nvSpPr>
          <p:cNvPr id="7" name="Freeform 7"/>
          <p:cNvSpPr/>
          <p:nvPr/>
        </p:nvSpPr>
        <p:spPr>
          <a:xfrm>
            <a:off x="2857500" y="90170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2895600" y="90297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9" name="Freeform 9"/>
          <p:cNvSpPr/>
          <p:nvPr/>
        </p:nvSpPr>
        <p:spPr>
          <a:xfrm rot="10260000">
            <a:off x="14871700" y="14605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rot="10260000">
            <a:off x="14909800" y="14986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1" name="Freeform 11"/>
          <p:cNvSpPr/>
          <p:nvPr/>
        </p:nvSpPr>
        <p:spPr>
          <a:xfrm rot="10260000">
            <a:off x="15316200" y="54991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260000">
            <a:off x="15354300" y="55372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3" name="Freeform 13"/>
          <p:cNvSpPr/>
          <p:nvPr/>
        </p:nvSpPr>
        <p:spPr>
          <a:xfrm rot="10260000">
            <a:off x="2298700" y="29845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260000">
            <a:off x="2336800" y="30226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5" name="Freeform 15"/>
          <p:cNvSpPr/>
          <p:nvPr/>
        </p:nvSpPr>
        <p:spPr>
          <a:xfrm rot="10260000">
            <a:off x="2667000" y="3810000"/>
            <a:ext cx="1251040" cy="1251040"/>
          </a:xfrm>
          <a:custGeom>
            <a:avLst/>
            <a:gdLst/>
            <a:ahLst/>
            <a:cxnLst/>
            <a:rect l="l" t="t" r="r" b="b"/>
            <a:pathLst>
              <a:path w="1251040" h="1251040">
                <a:moveTo>
                  <a:pt x="625519" y="0"/>
                </a:moveTo>
                <a:cubicBezTo>
                  <a:pt x="280054" y="0"/>
                  <a:pt x="0" y="280054"/>
                  <a:pt x="0" y="625519"/>
                </a:cubicBezTo>
                <a:cubicBezTo>
                  <a:pt x="0" y="970986"/>
                  <a:pt x="280054" y="1251040"/>
                  <a:pt x="625519" y="1251040"/>
                </a:cubicBezTo>
                <a:cubicBezTo>
                  <a:pt x="970986" y="1251040"/>
                  <a:pt x="1251040" y="970986"/>
                  <a:pt x="1251040" y="625519"/>
                </a:cubicBezTo>
                <a:cubicBezTo>
                  <a:pt x="1251040" y="280054"/>
                  <a:pt x="970986" y="0"/>
                  <a:pt x="62551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260000">
            <a:off x="2794000" y="3924300"/>
            <a:ext cx="1016000" cy="10795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7" name="Freeform 17"/>
          <p:cNvSpPr/>
          <p:nvPr/>
        </p:nvSpPr>
        <p:spPr>
          <a:xfrm>
            <a:off x="2273300" y="80645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2349500" y="8102600"/>
            <a:ext cx="635000" cy="6731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9" name="Freeform 19"/>
          <p:cNvSpPr/>
          <p:nvPr/>
        </p:nvSpPr>
        <p:spPr>
          <a:xfrm rot="10260000">
            <a:off x="15176500" y="19558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260000">
            <a:off x="15252700" y="2032000"/>
            <a:ext cx="635000" cy="6731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1" name="Freeform 21"/>
          <p:cNvSpPr/>
          <p:nvPr/>
        </p:nvSpPr>
        <p:spPr>
          <a:xfrm rot="10260000">
            <a:off x="14274800" y="45466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rot="10260000">
            <a:off x="14351000" y="4622800"/>
            <a:ext cx="635000" cy="6731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pic>
        <p:nvPicPr>
          <p:cNvPr id="23" name="Picture 23"/>
          <p:cNvPicPr>
            <a:picLocks noChangeAspect="1"/>
          </p:cNvPicPr>
          <p:nvPr/>
        </p:nvPicPr>
        <p:blipFill>
          <a:blip r:embed="rId6"/>
          <a:srcRect/>
          <a:stretch>
            <a:fillRect/>
          </a:stretch>
        </p:blipFill>
        <p:spPr>
          <a:xfrm>
            <a:off x="14843125" y="4317365"/>
            <a:ext cx="3042285" cy="4712335"/>
          </a:xfrm>
          <a:prstGeom prst="rect">
            <a:avLst/>
          </a:prstGeom>
          <a:noFill/>
          <a:ln w="25400" cap="flat" cmpd="sng">
            <a:noFill/>
            <a:prstDash val="solid"/>
            <a:round/>
          </a:ln>
        </p:spPr>
      </p:pic>
      <p:sp>
        <p:nvSpPr>
          <p:cNvPr id="24" name="AutoShape 24"/>
          <p:cNvSpPr/>
          <p:nvPr/>
        </p:nvSpPr>
        <p:spPr>
          <a:xfrm>
            <a:off x="3213100" y="1824355"/>
            <a:ext cx="10733405" cy="1524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5600" b="1" i="0" u="none" strike="noStrike">
                <a:solidFill>
                  <a:srgbClr val="FFFFFF"/>
                </a:solidFill>
                <a:latin typeface="Fredoka"/>
                <a:ea typeface="Fredoka"/>
                <a:cs typeface="Fredoka"/>
                <a:sym typeface="Fredoka"/>
              </a:rPr>
              <a:t>System Execution Roadmap</a:t>
            </a:r>
            <a:endParaRPr lang="en-US" sz="1100"/>
          </a:p>
        </p:txBody>
      </p:sp>
      <p:sp>
        <p:nvSpPr>
          <p:cNvPr id="25" name="AutoShape 25"/>
          <p:cNvSpPr/>
          <p:nvPr/>
        </p:nvSpPr>
        <p:spPr>
          <a:xfrm>
            <a:off x="3583940" y="3348355"/>
            <a:ext cx="11259185" cy="2625725"/>
          </a:xfrm>
          <a:prstGeom prst="rect">
            <a:avLst/>
          </a:prstGeom>
          <a:noFill/>
          <a:ln w="19050" cap="flat" cmpd="sng">
            <a:noFill/>
            <a:prstDash val="solid"/>
            <a:round/>
          </a:ln>
        </p:spPr>
        <p:txBody>
          <a:bodyPr vert="horz" wrap="square" lIns="0" tIns="0" rIns="0" bIns="0" rtlCol="0" anchor="t" anchorCtr="0"/>
          <a:lstStyle/>
          <a:p>
            <a:pPr indent="0" algn="l">
              <a:lnSpc>
                <a:spcPct val="108000"/>
              </a:lnSpc>
              <a:defRPr/>
            </a:pPr>
            <a:r>
              <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rPr>
              <a:t>This presentation will walk through the core functionality of the API in a logical flow:</a:t>
            </a:r>
            <a:endParaRPr lang="en-US" sz="2400">
              <a:latin typeface="Arial Regular" panose="020B0604020202090204" charset="0"/>
              <a:cs typeface="Arial Regular" panose="020B0604020202090204" charset="0"/>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1. </a:t>
            </a:r>
            <a:r>
              <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rPr>
              <a:t>Authentication:</a:t>
            </a:r>
            <a:endPar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Obtaining a JWT token to validate user sessions.</a:t>
            </a:r>
            <a:endPar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2. </a:t>
            </a:r>
            <a:r>
              <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rPr>
              <a:t>Core CRUD:</a:t>
            </a:r>
            <a:endPar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Creating, reading, updating, and deleting a custom meal combo.</a:t>
            </a:r>
            <a:endPar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3. </a:t>
            </a:r>
            <a:r>
              <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rPr>
              <a:t>Data Exploration:</a:t>
            </a:r>
            <a:endPar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Browsing through available menu items and product categories.</a:t>
            </a:r>
            <a:endPar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4. </a:t>
            </a:r>
            <a:r>
              <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rPr>
              <a:t>Advanced Analytics:</a:t>
            </a:r>
            <a:endPar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Viewing real-time nutritional efficiency rankings and metrics.</a:t>
            </a:r>
            <a:endPar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5. </a:t>
            </a:r>
            <a:r>
              <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rPr>
              <a:t>Quality Assurance:</a:t>
            </a:r>
            <a:endParaRPr lang="en-US" sz="2800" b="1" i="0" u="none" strike="noStrike">
              <a:solidFill>
                <a:srgbClr val="FFFFFF">
                  <a:alpha val="94902"/>
                </a:srgbClr>
              </a:solidFill>
              <a:latin typeface="Arial Regular" panose="020B0604020202090204" charset="0"/>
              <a:ea typeface="Poppins"/>
              <a:cs typeface="Arial Regular" panose="020B0604020202090204" charset="0"/>
              <a:sym typeface="Poppins"/>
            </a:endParaRPr>
          </a:p>
          <a:p>
            <a:pPr indent="0" algn="l">
              <a:lnSpc>
                <a:spcPct val="108000"/>
              </a:lnSpc>
            </a:pPr>
            <a:r>
              <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rPr>
              <a:t>Demonstrating automated test results for system reliability.</a:t>
            </a:r>
            <a:endParaRPr lang="en-US" sz="2800" b="0" i="0" u="none" strike="noStrike">
              <a:solidFill>
                <a:srgbClr val="FFFFFF">
                  <a:alpha val="94902"/>
                </a:srgbClr>
              </a:solidFill>
              <a:latin typeface="Arial Regular" panose="020B0604020202090204" charset="0"/>
              <a:ea typeface="Poppins"/>
              <a:cs typeface="Arial Regular" panose="020B0604020202090204" charset="0"/>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23" r="23"/>
          <a:stretch>
            <a:fillRect/>
          </a:stretch>
        </p:blipFill>
        <p:spPr>
          <a:xfrm rot="5760000">
            <a:off x="8724900" y="441960"/>
            <a:ext cx="6337300" cy="6985000"/>
          </a:xfrm>
          <a:prstGeom prst="rect">
            <a:avLst/>
          </a:prstGeom>
          <a:noFill/>
          <a:ln w="25400" cap="flat" cmpd="sng">
            <a:noFill/>
            <a:prstDash val="solid"/>
            <a:round/>
          </a:ln>
        </p:spPr>
      </p:pic>
      <p:pic>
        <p:nvPicPr>
          <p:cNvPr id="3" name="Picture 3"/>
          <p:cNvPicPr>
            <a:picLocks noChangeAspect="1"/>
          </p:cNvPicPr>
          <p:nvPr/>
        </p:nvPicPr>
        <p:blipFill>
          <a:blip r:embed="rId2"/>
          <a:srcRect l="23" r="23"/>
          <a:stretch>
            <a:fillRect/>
          </a:stretch>
        </p:blipFill>
        <p:spPr>
          <a:xfrm rot="-5640000">
            <a:off x="5020945" y="-4322445"/>
            <a:ext cx="7510145" cy="18081625"/>
          </a:xfrm>
          <a:prstGeom prst="rect">
            <a:avLst/>
          </a:prstGeom>
          <a:noFill/>
          <a:ln w="25400" cap="flat" cmpd="sng">
            <a:noFill/>
            <a:prstDash val="solid"/>
            <a:round/>
          </a:ln>
        </p:spPr>
      </p:pic>
      <p:sp>
        <p:nvSpPr>
          <p:cNvPr id="4" name="Freeform 4"/>
          <p:cNvSpPr/>
          <p:nvPr/>
        </p:nvSpPr>
        <p:spPr>
          <a:xfrm>
            <a:off x="15913100" y="413766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549400" y="899160"/>
            <a:ext cx="288318" cy="288318"/>
          </a:xfrm>
          <a:custGeom>
            <a:avLst/>
            <a:gdLst/>
            <a:ahLst/>
            <a:cxnLst/>
            <a:rect l="l" t="t" r="r" b="b"/>
            <a:pathLst>
              <a:path w="288318" h="288318">
                <a:moveTo>
                  <a:pt x="144159" y="0"/>
                </a:moveTo>
                <a:cubicBezTo>
                  <a:pt x="64541" y="0"/>
                  <a:pt x="0" y="64541"/>
                  <a:pt x="0" y="144159"/>
                </a:cubicBezTo>
                <a:cubicBezTo>
                  <a:pt x="0" y="223777"/>
                  <a:pt x="64541" y="288318"/>
                  <a:pt x="144159" y="288318"/>
                </a:cubicBezTo>
                <a:cubicBezTo>
                  <a:pt x="223777" y="288318"/>
                  <a:pt x="288318" y="223777"/>
                  <a:pt x="288318" y="144159"/>
                </a:cubicBezTo>
                <a:cubicBezTo>
                  <a:pt x="288318" y="64541"/>
                  <a:pt x="223777" y="0"/>
                  <a:pt x="14415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117600" y="135636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4986000" y="747776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5443200" y="7020560"/>
            <a:ext cx="245421" cy="245421"/>
          </a:xfrm>
          <a:custGeom>
            <a:avLst/>
            <a:gdLst/>
            <a:ahLst/>
            <a:cxnLst/>
            <a:rect l="l" t="t" r="r" b="b"/>
            <a:pathLst>
              <a:path w="245421" h="245421">
                <a:moveTo>
                  <a:pt x="122710" y="0"/>
                </a:moveTo>
                <a:cubicBezTo>
                  <a:pt x="54939" y="0"/>
                  <a:pt x="0" y="54939"/>
                  <a:pt x="0" y="122710"/>
                </a:cubicBezTo>
                <a:cubicBezTo>
                  <a:pt x="0" y="190482"/>
                  <a:pt x="54939" y="245421"/>
                  <a:pt x="122710" y="245421"/>
                </a:cubicBezTo>
                <a:cubicBezTo>
                  <a:pt x="190482" y="245421"/>
                  <a:pt x="245421" y="190482"/>
                  <a:pt x="245421" y="122710"/>
                </a:cubicBezTo>
                <a:cubicBezTo>
                  <a:pt x="245421" y="54939"/>
                  <a:pt x="190482" y="0"/>
                  <a:pt x="122710"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5328900" y="317246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srcRect t="35" b="35"/>
          <a:stretch>
            <a:fillRect/>
          </a:stretch>
        </p:blipFill>
        <p:spPr>
          <a:xfrm rot="-1439999">
            <a:off x="-1866900" y="-2565400"/>
            <a:ext cx="5791200" cy="5130800"/>
          </a:xfrm>
          <a:prstGeom prst="rect">
            <a:avLst/>
          </a:prstGeom>
          <a:noFill/>
          <a:ln w="25400" cap="flat" cmpd="sng">
            <a:noFill/>
            <a:prstDash val="solid"/>
            <a:round/>
          </a:ln>
        </p:spPr>
      </p:pic>
      <p:pic>
        <p:nvPicPr>
          <p:cNvPr id="12" name="Picture 12"/>
          <p:cNvPicPr>
            <a:picLocks noChangeAspect="1"/>
          </p:cNvPicPr>
          <p:nvPr/>
        </p:nvPicPr>
        <p:blipFill>
          <a:blip r:embed="rId4"/>
          <a:srcRect t="13" b="13"/>
          <a:stretch>
            <a:fillRect/>
          </a:stretch>
        </p:blipFill>
        <p:spPr>
          <a:xfrm>
            <a:off x="8981440" y="5013960"/>
            <a:ext cx="11640820" cy="7607300"/>
          </a:xfrm>
          <a:prstGeom prst="rect">
            <a:avLst/>
          </a:prstGeom>
          <a:noFill/>
          <a:ln w="25400" cap="flat" cmpd="sng">
            <a:noFill/>
            <a:prstDash val="solid"/>
            <a:round/>
          </a:ln>
        </p:spPr>
      </p:pic>
      <p:pic>
        <p:nvPicPr>
          <p:cNvPr id="14" name="Picture 14"/>
          <p:cNvPicPr>
            <a:picLocks noChangeAspect="1"/>
          </p:cNvPicPr>
          <p:nvPr/>
        </p:nvPicPr>
        <p:blipFill>
          <a:blip r:embed="rId5"/>
          <a:srcRect l="4" r="4"/>
          <a:stretch>
            <a:fillRect/>
          </a:stretch>
        </p:blipFill>
        <p:spPr>
          <a:xfrm>
            <a:off x="14279880" y="6329680"/>
            <a:ext cx="5854700" cy="5981700"/>
          </a:xfrm>
          <a:prstGeom prst="rect">
            <a:avLst/>
          </a:prstGeom>
          <a:noFill/>
          <a:ln w="25400" cap="flat" cmpd="sng">
            <a:noFill/>
            <a:prstDash val="solid"/>
            <a:round/>
          </a:ln>
        </p:spPr>
      </p:pic>
      <p:sp>
        <p:nvSpPr>
          <p:cNvPr id="15" name="AutoShape 15"/>
          <p:cNvSpPr/>
          <p:nvPr/>
        </p:nvSpPr>
        <p:spPr>
          <a:xfrm>
            <a:off x="4717415" y="1386840"/>
            <a:ext cx="7701915" cy="1143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Fredoka"/>
                <a:ea typeface="Fredoka"/>
                <a:cs typeface="Fredoka"/>
                <a:sym typeface="Fredoka"/>
              </a:rPr>
              <a:t>Architecture Overview</a:t>
            </a:r>
            <a:endParaRPr lang="en-US" sz="4800" b="1" i="0" u="none" strike="noStrike">
              <a:solidFill>
                <a:srgbClr val="FFFFFF"/>
              </a:solidFill>
              <a:latin typeface="Fredoka"/>
              <a:ea typeface="Fredoka"/>
              <a:cs typeface="Fredoka"/>
              <a:sym typeface="Fredoka"/>
            </a:endParaRPr>
          </a:p>
        </p:txBody>
      </p:sp>
      <p:sp>
        <p:nvSpPr>
          <p:cNvPr id="16" name="AutoShape 16"/>
          <p:cNvSpPr/>
          <p:nvPr/>
        </p:nvSpPr>
        <p:spPr>
          <a:xfrm>
            <a:off x="1778000" y="2956560"/>
            <a:ext cx="5588000" cy="825500"/>
          </a:xfrm>
          <a:prstGeom prst="roundRect">
            <a:avLst>
              <a:gd name="adj" fmla="val 15384"/>
            </a:avLst>
          </a:prstGeom>
          <a:solidFill>
            <a:srgbClr val="FFFFFF">
              <a:alpha val="12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68500" y="3159760"/>
            <a:ext cx="406400" cy="406400"/>
          </a:xfrm>
          <a:prstGeom prst="rect">
            <a:avLst/>
          </a:prstGeom>
        </p:spPr>
      </p:pic>
      <p:sp>
        <p:nvSpPr>
          <p:cNvPr id="18" name="AutoShape 18"/>
          <p:cNvSpPr/>
          <p:nvPr/>
        </p:nvSpPr>
        <p:spPr>
          <a:xfrm>
            <a:off x="2540000" y="2994660"/>
            <a:ext cx="4699000" cy="762000"/>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D700"/>
                </a:solidFill>
                <a:latin typeface="Poppins"/>
                <a:ea typeface="Poppins"/>
                <a:cs typeface="Poppins"/>
                <a:sym typeface="Poppins"/>
              </a:rPr>
              <a:t>Client Layer</a:t>
            </a:r>
            <a:r>
              <a:rPr lang="en-US" sz="1100" b="0" i="0" u="none" strike="noStrike">
                <a:solidFill>
                  <a:srgbClr val="EBEBEB"/>
                </a:solidFill>
                <a:latin typeface="Noto Sans SC"/>
                <a:ea typeface="Noto Sans SC"/>
                <a:cs typeface="Noto Sans SC"/>
                <a:sym typeface="Noto Sans SC"/>
              </a:rPr>
              <a:t>- Users interact via Swagger UI or HTTP clients for system access.</a:t>
            </a:r>
            <a:endParaRPr lang="en-US" sz="1100"/>
          </a:p>
        </p:txBody>
      </p:sp>
      <p:sp>
        <p:nvSpPr>
          <p:cNvPr id="19" name="AutoShape 19"/>
          <p:cNvSpPr/>
          <p:nvPr/>
        </p:nvSpPr>
        <p:spPr>
          <a:xfrm>
            <a:off x="1778000" y="3909060"/>
            <a:ext cx="5588000" cy="825500"/>
          </a:xfrm>
          <a:prstGeom prst="roundRect">
            <a:avLst>
              <a:gd name="adj" fmla="val 15384"/>
            </a:avLst>
          </a:prstGeom>
          <a:solidFill>
            <a:srgbClr val="FFFFFF">
              <a:alpha val="12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68500" y="4112260"/>
            <a:ext cx="406400" cy="406400"/>
          </a:xfrm>
          <a:prstGeom prst="rect">
            <a:avLst/>
          </a:prstGeom>
        </p:spPr>
      </p:pic>
      <p:sp>
        <p:nvSpPr>
          <p:cNvPr id="21" name="AutoShape 21"/>
          <p:cNvSpPr/>
          <p:nvPr/>
        </p:nvSpPr>
        <p:spPr>
          <a:xfrm>
            <a:off x="2540000" y="3947160"/>
            <a:ext cx="4699000" cy="762000"/>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D700"/>
                </a:solidFill>
                <a:latin typeface="Poppins"/>
                <a:ea typeface="Poppins"/>
                <a:cs typeface="Poppins"/>
                <a:sym typeface="Poppins"/>
              </a:rPr>
              <a:t>API Layer</a:t>
            </a:r>
            <a:r>
              <a:rPr lang="en-US" sz="1100" b="0" i="0" u="none" strike="noStrike">
                <a:solidFill>
                  <a:srgbClr val="EBEBEB"/>
                </a:solidFill>
                <a:latin typeface="Noto Sans SC"/>
                <a:ea typeface="Noto Sans SC"/>
                <a:cs typeface="Noto Sans SC"/>
                <a:sym typeface="Noto Sans SC"/>
              </a:rPr>
              <a:t>- FastAPI framework handles all incoming requests, routing, and data validation.</a:t>
            </a:r>
            <a:endParaRPr lang="en-US" sz="1100"/>
          </a:p>
        </p:txBody>
      </p:sp>
      <p:sp>
        <p:nvSpPr>
          <p:cNvPr id="22" name="AutoShape 22"/>
          <p:cNvSpPr/>
          <p:nvPr/>
        </p:nvSpPr>
        <p:spPr>
          <a:xfrm>
            <a:off x="1778000" y="4861560"/>
            <a:ext cx="5588000" cy="825500"/>
          </a:xfrm>
          <a:prstGeom prst="roundRect">
            <a:avLst>
              <a:gd name="adj" fmla="val 15384"/>
            </a:avLst>
          </a:prstGeom>
          <a:solidFill>
            <a:srgbClr val="FFFFFF">
              <a:alpha val="12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68500" y="5064760"/>
            <a:ext cx="406400" cy="406400"/>
          </a:xfrm>
          <a:prstGeom prst="rect">
            <a:avLst/>
          </a:prstGeom>
        </p:spPr>
      </p:pic>
      <p:sp>
        <p:nvSpPr>
          <p:cNvPr id="24" name="AutoShape 24"/>
          <p:cNvSpPr/>
          <p:nvPr/>
        </p:nvSpPr>
        <p:spPr>
          <a:xfrm>
            <a:off x="2540000" y="4899660"/>
            <a:ext cx="4699000" cy="762000"/>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D700"/>
                </a:solidFill>
                <a:latin typeface="Poppins"/>
                <a:ea typeface="Poppins"/>
                <a:cs typeface="Poppins"/>
                <a:sym typeface="Poppins"/>
              </a:rPr>
              <a:t>Business Logic</a:t>
            </a:r>
            <a:r>
              <a:rPr lang="en-US" sz="1100" b="0" i="0" u="none" strike="noStrike">
                <a:solidFill>
                  <a:srgbClr val="EBEBEB"/>
                </a:solidFill>
                <a:latin typeface="Noto Sans SC"/>
                <a:ea typeface="Noto Sans SC"/>
                <a:cs typeface="Noto Sans SC"/>
                <a:sym typeface="Noto Sans SC"/>
              </a:rPr>
              <a:t>- Core implementation for user authentication, CRUD operations, and data analytics.</a:t>
            </a:r>
            <a:endParaRPr lang="en-US" sz="1100"/>
          </a:p>
        </p:txBody>
      </p:sp>
      <p:sp>
        <p:nvSpPr>
          <p:cNvPr id="25" name="AutoShape 25"/>
          <p:cNvSpPr/>
          <p:nvPr/>
        </p:nvSpPr>
        <p:spPr>
          <a:xfrm>
            <a:off x="1778000" y="5826760"/>
            <a:ext cx="5588000" cy="825500"/>
          </a:xfrm>
          <a:prstGeom prst="roundRect">
            <a:avLst>
              <a:gd name="adj" fmla="val 15384"/>
            </a:avLst>
          </a:prstGeom>
          <a:solidFill>
            <a:srgbClr val="FFFFFF">
              <a:alpha val="12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68500" y="6029960"/>
            <a:ext cx="406400" cy="406400"/>
          </a:xfrm>
          <a:prstGeom prst="rect">
            <a:avLst/>
          </a:prstGeom>
        </p:spPr>
      </p:pic>
      <p:sp>
        <p:nvSpPr>
          <p:cNvPr id="27" name="AutoShape 27"/>
          <p:cNvSpPr/>
          <p:nvPr/>
        </p:nvSpPr>
        <p:spPr>
          <a:xfrm>
            <a:off x="2540000" y="5864860"/>
            <a:ext cx="4699000" cy="762000"/>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D700"/>
                </a:solidFill>
                <a:latin typeface="Poppins"/>
                <a:ea typeface="Poppins"/>
                <a:cs typeface="Poppins"/>
                <a:sym typeface="Poppins"/>
              </a:rPr>
              <a:t>Data Access Layer</a:t>
            </a:r>
            <a:r>
              <a:rPr lang="en-US" sz="1100" b="0" i="0" u="none" strike="noStrike">
                <a:solidFill>
                  <a:srgbClr val="EBEBEB"/>
                </a:solidFill>
                <a:latin typeface="Noto Sans SC"/>
                <a:ea typeface="Noto Sans SC"/>
                <a:cs typeface="Noto Sans SC"/>
                <a:sym typeface="Noto Sans SC"/>
              </a:rPr>
              <a:t>- SQLAlchemy ORM serves as the bridge to interact with the underlying database.</a:t>
            </a:r>
            <a:endParaRPr lang="en-US" sz="1100"/>
          </a:p>
        </p:txBody>
      </p:sp>
      <p:sp>
        <p:nvSpPr>
          <p:cNvPr id="28" name="AutoShape 28"/>
          <p:cNvSpPr/>
          <p:nvPr/>
        </p:nvSpPr>
        <p:spPr>
          <a:xfrm>
            <a:off x="1778000" y="6779260"/>
            <a:ext cx="5588000" cy="825500"/>
          </a:xfrm>
          <a:prstGeom prst="roundRect">
            <a:avLst>
              <a:gd name="adj" fmla="val 15384"/>
            </a:avLst>
          </a:prstGeom>
          <a:solidFill>
            <a:srgbClr val="FFFFFF">
              <a:alpha val="12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68500" y="6982460"/>
            <a:ext cx="406400" cy="406400"/>
          </a:xfrm>
          <a:prstGeom prst="rect">
            <a:avLst/>
          </a:prstGeom>
        </p:spPr>
      </p:pic>
      <p:sp>
        <p:nvSpPr>
          <p:cNvPr id="30" name="AutoShape 30"/>
          <p:cNvSpPr/>
          <p:nvPr/>
        </p:nvSpPr>
        <p:spPr>
          <a:xfrm>
            <a:off x="2540000" y="6817360"/>
            <a:ext cx="4699000" cy="762000"/>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D700"/>
                </a:solidFill>
                <a:latin typeface="Poppins"/>
                <a:ea typeface="Poppins"/>
                <a:cs typeface="Poppins"/>
                <a:sym typeface="Poppins"/>
              </a:rPr>
              <a:t>Database</a:t>
            </a:r>
            <a:r>
              <a:rPr lang="en-US" sz="1100" b="0" i="0" u="none" strike="noStrike">
                <a:solidFill>
                  <a:srgbClr val="EBEBEB"/>
                </a:solidFill>
                <a:latin typeface="Noto Sans SC"/>
                <a:ea typeface="Noto Sans SC"/>
                <a:cs typeface="Noto Sans SC"/>
                <a:sym typeface="Noto Sans SC"/>
              </a:rPr>
              <a:t>- SQLite is used for development environments, with PostgreSQL for production.</a:t>
            </a:r>
            <a:endParaRPr lang="en-US" sz="1100"/>
          </a:p>
        </p:txBody>
      </p:sp>
      <p:pic>
        <p:nvPicPr>
          <p:cNvPr id="31" name="图片 4" descr="截屏2026-04-21 18.48.24"/>
          <p:cNvPicPr>
            <a:picLocks noChangeAspect="1"/>
          </p:cNvPicPr>
          <p:nvPr/>
        </p:nvPicPr>
        <p:blipFill>
          <a:blip r:embed="rId16"/>
          <a:stretch>
            <a:fillRect/>
          </a:stretch>
        </p:blipFill>
        <p:spPr>
          <a:xfrm>
            <a:off x="7995920" y="2829560"/>
            <a:ext cx="8982710" cy="3200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23" r="23"/>
          <a:stretch>
            <a:fillRect/>
          </a:stretch>
        </p:blipFill>
        <p:spPr>
          <a:xfrm rot="5760000">
            <a:off x="9570085" y="1299845"/>
            <a:ext cx="6654800" cy="7335520"/>
          </a:xfrm>
          <a:prstGeom prst="rect">
            <a:avLst/>
          </a:prstGeom>
          <a:noFill/>
          <a:ln w="25400" cap="flat" cmpd="sng">
            <a:noFill/>
            <a:prstDash val="solid"/>
            <a:round/>
          </a:ln>
        </p:spPr>
      </p:pic>
      <p:pic>
        <p:nvPicPr>
          <p:cNvPr id="3" name="Picture 3"/>
          <p:cNvPicPr>
            <a:picLocks noChangeAspect="1"/>
          </p:cNvPicPr>
          <p:nvPr/>
        </p:nvPicPr>
        <p:blipFill>
          <a:blip r:embed="rId2"/>
          <a:srcRect l="23" r="23"/>
          <a:stretch>
            <a:fillRect/>
          </a:stretch>
        </p:blipFill>
        <p:spPr>
          <a:xfrm rot="-5640000">
            <a:off x="9039225" y="1675765"/>
            <a:ext cx="6847840" cy="7952105"/>
          </a:xfrm>
          <a:prstGeom prst="rect">
            <a:avLst/>
          </a:prstGeom>
          <a:noFill/>
          <a:ln w="25400" cap="flat" cmpd="sng">
            <a:noFill/>
            <a:prstDash val="solid"/>
            <a:round/>
          </a:ln>
        </p:spPr>
      </p:pic>
      <p:sp>
        <p:nvSpPr>
          <p:cNvPr id="4" name="Freeform 4"/>
          <p:cNvSpPr/>
          <p:nvPr/>
        </p:nvSpPr>
        <p:spPr>
          <a:xfrm>
            <a:off x="17074515" y="557911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7112615" y="5591810"/>
            <a:ext cx="317500" cy="3429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6" name="Freeform 6"/>
          <p:cNvSpPr/>
          <p:nvPr/>
        </p:nvSpPr>
        <p:spPr>
          <a:xfrm>
            <a:off x="1549400" y="2340610"/>
            <a:ext cx="288318" cy="288318"/>
          </a:xfrm>
          <a:custGeom>
            <a:avLst/>
            <a:gdLst/>
            <a:ahLst/>
            <a:cxnLst/>
            <a:rect l="l" t="t" r="r" b="b"/>
            <a:pathLst>
              <a:path w="288318" h="288318">
                <a:moveTo>
                  <a:pt x="144159" y="0"/>
                </a:moveTo>
                <a:cubicBezTo>
                  <a:pt x="64541" y="0"/>
                  <a:pt x="0" y="64541"/>
                  <a:pt x="0" y="144159"/>
                </a:cubicBezTo>
                <a:cubicBezTo>
                  <a:pt x="0" y="223777"/>
                  <a:pt x="64541" y="288318"/>
                  <a:pt x="144159" y="288318"/>
                </a:cubicBezTo>
                <a:cubicBezTo>
                  <a:pt x="223777" y="288318"/>
                  <a:pt x="288318" y="223777"/>
                  <a:pt x="288318" y="144159"/>
                </a:cubicBezTo>
                <a:cubicBezTo>
                  <a:pt x="288318" y="64541"/>
                  <a:pt x="223777" y="0"/>
                  <a:pt x="14415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574800" y="2353310"/>
            <a:ext cx="228600" cy="2540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8" name="Freeform 8"/>
          <p:cNvSpPr/>
          <p:nvPr/>
        </p:nvSpPr>
        <p:spPr>
          <a:xfrm>
            <a:off x="1117600" y="279781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68400" y="2823210"/>
            <a:ext cx="469900" cy="4953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10" name="Freeform 10"/>
          <p:cNvSpPr/>
          <p:nvPr/>
        </p:nvSpPr>
        <p:spPr>
          <a:xfrm>
            <a:off x="16147415" y="891921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6198215" y="8944610"/>
            <a:ext cx="469900" cy="4953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12" name="Freeform 12"/>
          <p:cNvSpPr/>
          <p:nvPr/>
        </p:nvSpPr>
        <p:spPr>
          <a:xfrm>
            <a:off x="16604615" y="8462010"/>
            <a:ext cx="245421" cy="245421"/>
          </a:xfrm>
          <a:custGeom>
            <a:avLst/>
            <a:gdLst/>
            <a:ahLst/>
            <a:cxnLst/>
            <a:rect l="l" t="t" r="r" b="b"/>
            <a:pathLst>
              <a:path w="245421" h="245421">
                <a:moveTo>
                  <a:pt x="122710" y="0"/>
                </a:moveTo>
                <a:cubicBezTo>
                  <a:pt x="54939" y="0"/>
                  <a:pt x="0" y="54939"/>
                  <a:pt x="0" y="122710"/>
                </a:cubicBezTo>
                <a:cubicBezTo>
                  <a:pt x="0" y="190482"/>
                  <a:pt x="54939" y="245421"/>
                  <a:pt x="122710" y="245421"/>
                </a:cubicBezTo>
                <a:cubicBezTo>
                  <a:pt x="190482" y="245421"/>
                  <a:pt x="245421" y="190482"/>
                  <a:pt x="245421" y="122710"/>
                </a:cubicBezTo>
                <a:cubicBezTo>
                  <a:pt x="245421" y="54939"/>
                  <a:pt x="190482" y="0"/>
                  <a:pt x="122710"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6630015" y="8462010"/>
            <a:ext cx="203200" cy="2159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14" name="Freeform 14"/>
          <p:cNvSpPr/>
          <p:nvPr/>
        </p:nvSpPr>
        <p:spPr>
          <a:xfrm>
            <a:off x="16490315" y="461391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6566515" y="4652010"/>
            <a:ext cx="635000" cy="673100"/>
          </a:xfrm>
          <a:prstGeom prst="rect">
            <a:avLst/>
          </a:prstGeom>
          <a:noFill/>
          <a:ln w="19050" cap="flat" cmpd="sng">
            <a:noFill/>
            <a:prstDash val="solid"/>
            <a:round/>
          </a:ln>
        </p:spPr>
        <p:txBody>
          <a:bodyPr vert="horz" wrap="square" lIns="0" tIns="0" rIns="0" bIns="0" rtlCol="0" anchor="ctr" anchorCtr="0"/>
          <a:lstStyle/>
          <a:p>
            <a:pPr algn="l">
              <a:defRPr/>
            </a:pPr>
          </a:p>
        </p:txBody>
      </p:sp>
      <p:pic>
        <p:nvPicPr>
          <p:cNvPr id="16" name="Picture 16"/>
          <p:cNvPicPr>
            <a:picLocks noChangeAspect="1"/>
          </p:cNvPicPr>
          <p:nvPr/>
        </p:nvPicPr>
        <p:blipFill>
          <a:blip r:embed="rId3"/>
          <a:srcRect t="35" b="35"/>
          <a:stretch>
            <a:fillRect/>
          </a:stretch>
        </p:blipFill>
        <p:spPr>
          <a:xfrm rot="-1439999">
            <a:off x="-1866900" y="-2565400"/>
            <a:ext cx="5791200" cy="5130800"/>
          </a:xfrm>
          <a:prstGeom prst="rect">
            <a:avLst/>
          </a:prstGeom>
          <a:noFill/>
          <a:ln w="25400" cap="flat" cmpd="sng">
            <a:noFill/>
            <a:prstDash val="solid"/>
            <a:round/>
          </a:ln>
        </p:spPr>
      </p:pic>
      <p:pic>
        <p:nvPicPr>
          <p:cNvPr id="17" name="Picture 17"/>
          <p:cNvPicPr>
            <a:picLocks noChangeAspect="1"/>
          </p:cNvPicPr>
          <p:nvPr/>
        </p:nvPicPr>
        <p:blipFill>
          <a:blip r:embed="rId4"/>
          <a:srcRect t="35" b="35"/>
          <a:stretch>
            <a:fillRect/>
          </a:stretch>
        </p:blipFill>
        <p:spPr>
          <a:xfrm rot="-2160000">
            <a:off x="-2374900" y="-2298700"/>
            <a:ext cx="5791200" cy="5130800"/>
          </a:xfrm>
          <a:prstGeom prst="rect">
            <a:avLst/>
          </a:prstGeom>
          <a:noFill/>
          <a:ln w="25400" cap="flat" cmpd="sng">
            <a:noFill/>
            <a:prstDash val="solid"/>
            <a:round/>
          </a:ln>
        </p:spPr>
      </p:pic>
      <p:pic>
        <p:nvPicPr>
          <p:cNvPr id="18" name="Picture 18"/>
          <p:cNvPicPr>
            <a:picLocks noChangeAspect="1"/>
          </p:cNvPicPr>
          <p:nvPr/>
        </p:nvPicPr>
        <p:blipFill>
          <a:blip r:embed="rId5"/>
          <a:srcRect t="13" b="13"/>
          <a:stretch>
            <a:fillRect/>
          </a:stretch>
        </p:blipFill>
        <p:spPr>
          <a:xfrm>
            <a:off x="12788900" y="6223000"/>
            <a:ext cx="8267700" cy="7607300"/>
          </a:xfrm>
          <a:prstGeom prst="rect">
            <a:avLst/>
          </a:prstGeom>
          <a:noFill/>
          <a:ln w="25400" cap="flat" cmpd="sng">
            <a:noFill/>
            <a:prstDash val="solid"/>
            <a:round/>
          </a:ln>
        </p:spPr>
      </p:pic>
      <p:pic>
        <p:nvPicPr>
          <p:cNvPr id="19" name="Picture 19"/>
          <p:cNvPicPr>
            <a:picLocks noChangeAspect="1"/>
          </p:cNvPicPr>
          <p:nvPr/>
        </p:nvPicPr>
        <p:blipFill>
          <a:blip r:embed="rId6"/>
          <a:srcRect t="13" b="13"/>
          <a:stretch>
            <a:fillRect/>
          </a:stretch>
        </p:blipFill>
        <p:spPr>
          <a:xfrm>
            <a:off x="11722100" y="6781800"/>
            <a:ext cx="8267700" cy="7607300"/>
          </a:xfrm>
          <a:prstGeom prst="rect">
            <a:avLst/>
          </a:prstGeom>
          <a:noFill/>
          <a:ln w="25400" cap="flat" cmpd="sng">
            <a:noFill/>
            <a:prstDash val="solid"/>
            <a:round/>
          </a:ln>
        </p:spPr>
      </p:pic>
      <p:sp>
        <p:nvSpPr>
          <p:cNvPr id="20" name="AutoShape 20"/>
          <p:cNvSpPr/>
          <p:nvPr/>
        </p:nvSpPr>
        <p:spPr>
          <a:xfrm>
            <a:off x="647065" y="3228340"/>
            <a:ext cx="7607935" cy="4636135"/>
          </a:xfrm>
          <a:prstGeom prst="roundRect">
            <a:avLst>
              <a:gd name="adj" fmla="val 4338"/>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65880" y="4287520"/>
            <a:ext cx="1836420" cy="1836420"/>
          </a:xfrm>
          <a:prstGeom prst="rect">
            <a:avLst/>
          </a:prstGeom>
        </p:spPr>
      </p:pic>
      <p:sp>
        <p:nvSpPr>
          <p:cNvPr id="22" name="AutoShape 22"/>
          <p:cNvSpPr/>
          <p:nvPr/>
        </p:nvSpPr>
        <p:spPr>
          <a:xfrm>
            <a:off x="1219200" y="6138545"/>
            <a:ext cx="6781800" cy="1001395"/>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05BA4"/>
                </a:solidFill>
                <a:latin typeface="Fredoka"/>
                <a:ea typeface="Fredoka"/>
                <a:cs typeface="Fredoka"/>
                <a:sym typeface="Fredoka"/>
              </a:rPr>
              <a:t>ENTITY RELATIONSHIP</a:t>
            </a:r>
            <a:endParaRPr lang="en-US" sz="1100"/>
          </a:p>
          <a:p>
            <a:pPr indent="0" algn="ctr">
              <a:lnSpc>
                <a:spcPct val="125000"/>
              </a:lnSpc>
            </a:pPr>
            <a:r>
              <a:rPr lang="en-US" sz="1600" b="0" i="0" u="none" strike="noStrike">
                <a:solidFill>
                  <a:srgbClr val="6B7280"/>
                </a:solidFill>
                <a:latin typeface="Poppins"/>
                <a:ea typeface="Poppins"/>
                <a:cs typeface="Poppins"/>
                <a:sym typeface="Poppins"/>
              </a:rPr>
              <a:t>Visualizing Core Data Connections</a:t>
            </a:r>
            <a:endParaRPr lang="en-US" sz="1600" b="0" i="0" u="none" strike="noStrike">
              <a:solidFill>
                <a:srgbClr val="6B7280"/>
              </a:solidFill>
              <a:latin typeface="Poppins"/>
              <a:ea typeface="Poppins"/>
              <a:cs typeface="Poppins"/>
              <a:sym typeface="Poppins"/>
            </a:endParaRPr>
          </a:p>
        </p:txBody>
      </p:sp>
      <p:sp>
        <p:nvSpPr>
          <p:cNvPr id="24" name="AutoShape 24"/>
          <p:cNvSpPr/>
          <p:nvPr/>
        </p:nvSpPr>
        <p:spPr>
          <a:xfrm>
            <a:off x="9416415" y="3153410"/>
            <a:ext cx="5969000" cy="1502410"/>
          </a:xfrm>
          <a:prstGeom prst="roundRect">
            <a:avLst>
              <a:gd name="adj" fmla="val 9090"/>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9670415" y="3280410"/>
            <a:ext cx="4318000" cy="381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E40AF"/>
                </a:solidFill>
                <a:latin typeface="Poppins"/>
                <a:ea typeface="Poppins"/>
                <a:cs typeface="Poppins"/>
                <a:sym typeface="Poppins"/>
              </a:rPr>
              <a:t>CORE ENTITIES</a:t>
            </a:r>
            <a:endParaRPr lang="en-US" sz="2400" b="1" i="0" u="none" strike="noStrike">
              <a:solidFill>
                <a:srgbClr val="1E40AF"/>
              </a:solidFill>
              <a:latin typeface="Poppins"/>
              <a:ea typeface="Poppins"/>
              <a:cs typeface="Poppins"/>
              <a:sym typeface="Poppins"/>
            </a:endParaRPr>
          </a:p>
        </p:txBody>
      </p:sp>
      <p:sp>
        <p:nvSpPr>
          <p:cNvPr id="26" name="AutoShape 26"/>
          <p:cNvSpPr/>
          <p:nvPr/>
        </p:nvSpPr>
        <p:spPr>
          <a:xfrm>
            <a:off x="9670415" y="3728085"/>
            <a:ext cx="5389245" cy="762000"/>
          </a:xfrm>
          <a:prstGeom prst="rect">
            <a:avLst/>
          </a:prstGeom>
          <a:noFill/>
          <a:ln w="1905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374151"/>
                </a:solidFill>
                <a:latin typeface="Noto Sans SC"/>
                <a:ea typeface="Noto Sans SC"/>
                <a:cs typeface="Noto Sans SC"/>
                <a:sym typeface="Noto Sans SC"/>
              </a:rPr>
              <a:t>The model is built around four fundamental tables:</a:t>
            </a:r>
            <a:r>
              <a:rPr lang="en-US" sz="1600" b="1" i="0" u="none" strike="noStrike">
                <a:solidFill>
                  <a:srgbClr val="374151"/>
                </a:solidFill>
                <a:latin typeface="Noto Sans SC"/>
                <a:ea typeface="Noto Sans SC"/>
                <a:cs typeface="Noto Sans SC"/>
                <a:sym typeface="Noto Sans SC"/>
              </a:rPr>
              <a:t>Category</a:t>
            </a:r>
            <a:r>
              <a:rPr lang="en-US" sz="1600" b="0" i="0" u="none" strike="noStrike">
                <a:solidFill>
                  <a:srgbClr val="374151"/>
                </a:solidFill>
                <a:latin typeface="Noto Sans SC"/>
                <a:ea typeface="Noto Sans SC"/>
                <a:cs typeface="Noto Sans SC"/>
                <a:sym typeface="Noto Sans SC"/>
              </a:rPr>
              <a:t>,</a:t>
            </a:r>
            <a:r>
              <a:rPr lang="en-US" sz="1600" b="1" i="0" u="none" strike="noStrike">
                <a:solidFill>
                  <a:srgbClr val="374151"/>
                </a:solidFill>
                <a:latin typeface="Noto Sans SC"/>
                <a:ea typeface="Noto Sans SC"/>
                <a:cs typeface="Noto Sans SC"/>
                <a:sym typeface="Noto Sans SC"/>
              </a:rPr>
              <a:t>MenuItem</a:t>
            </a:r>
            <a:r>
              <a:rPr lang="en-US" sz="1600" b="0" i="0" u="none" strike="noStrike">
                <a:solidFill>
                  <a:srgbClr val="374151"/>
                </a:solidFill>
                <a:latin typeface="Noto Sans SC"/>
                <a:ea typeface="Noto Sans SC"/>
                <a:cs typeface="Noto Sans SC"/>
                <a:sym typeface="Noto Sans SC"/>
              </a:rPr>
              <a:t>,</a:t>
            </a:r>
            <a:r>
              <a:rPr lang="en-US" sz="1600" b="1" i="0" u="none" strike="noStrike">
                <a:solidFill>
                  <a:srgbClr val="374151"/>
                </a:solidFill>
                <a:latin typeface="Noto Sans SC"/>
                <a:ea typeface="Noto Sans SC"/>
                <a:cs typeface="Noto Sans SC"/>
                <a:sym typeface="Noto Sans SC"/>
              </a:rPr>
              <a:t>Combo</a:t>
            </a:r>
            <a:r>
              <a:rPr lang="en-US" sz="1600" b="0" i="0" u="none" strike="noStrike">
                <a:solidFill>
                  <a:srgbClr val="374151"/>
                </a:solidFill>
                <a:latin typeface="Noto Sans SC"/>
                <a:ea typeface="Noto Sans SC"/>
                <a:cs typeface="Noto Sans SC"/>
                <a:sym typeface="Noto Sans SC"/>
              </a:rPr>
              <a:t>, and</a:t>
            </a:r>
            <a:r>
              <a:rPr lang="en-US" sz="1600" b="1" i="0" u="none" strike="noStrike">
                <a:solidFill>
                  <a:srgbClr val="374151"/>
                </a:solidFill>
                <a:latin typeface="Noto Sans SC"/>
                <a:ea typeface="Noto Sans SC"/>
                <a:cs typeface="Noto Sans SC"/>
                <a:sym typeface="Noto Sans SC"/>
              </a:rPr>
              <a:t>ComboItem</a:t>
            </a:r>
            <a:r>
              <a:rPr lang="en-US" sz="1600" b="0" i="0" u="none" strike="noStrike">
                <a:solidFill>
                  <a:srgbClr val="374151"/>
                </a:solidFill>
                <a:latin typeface="Noto Sans SC"/>
                <a:ea typeface="Noto Sans SC"/>
                <a:cs typeface="Noto Sans SC"/>
                <a:sym typeface="Noto Sans SC"/>
              </a:rPr>
              <a:t>. These form the backbone of all menu operations.</a:t>
            </a:r>
            <a:endParaRPr lang="en-US" sz="1600" b="0" i="0" u="none" strike="noStrike">
              <a:solidFill>
                <a:srgbClr val="374151"/>
              </a:solidFill>
              <a:latin typeface="Noto Sans SC"/>
              <a:ea typeface="Noto Sans SC"/>
              <a:cs typeface="Noto Sans SC"/>
              <a:sym typeface="Noto Sans SC"/>
            </a:endParaRPr>
          </a:p>
        </p:txBody>
      </p:sp>
      <p:sp>
        <p:nvSpPr>
          <p:cNvPr id="27" name="AutoShape 27"/>
          <p:cNvSpPr/>
          <p:nvPr/>
        </p:nvSpPr>
        <p:spPr>
          <a:xfrm>
            <a:off x="9416415" y="4804410"/>
            <a:ext cx="4826000" cy="1524000"/>
          </a:xfrm>
          <a:prstGeom prst="roundRect">
            <a:avLst>
              <a:gd name="adj" fmla="val 8333"/>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9670415" y="4931410"/>
            <a:ext cx="4318000" cy="381000"/>
          </a:xfrm>
          <a:prstGeom prst="rect">
            <a:avLst/>
          </a:prstGeom>
          <a:noFill/>
          <a:ln w="19050" cap="flat" cmpd="sng">
            <a:noFill/>
            <a:prstDash val="solid"/>
            <a:round/>
          </a:ln>
        </p:spPr>
        <p:txBody>
          <a:bodyPr vert="horz" wrap="square" lIns="0" tIns="0" rIns="0" bIns="0" rtlCol="0" anchor="ctr" anchorCtr="0">
            <a:noAutofit/>
          </a:bodyPr>
          <a:lstStyle/>
          <a:p>
            <a:pPr lvl="0" algn="l">
              <a:lnSpc>
                <a:spcPct val="125000"/>
              </a:lnSpc>
              <a:buSzTx/>
              <a:defRPr/>
            </a:pPr>
            <a:r>
              <a:rPr lang="en-US" sz="2400" b="1">
                <a:solidFill>
                  <a:srgbClr val="1E40AF"/>
                </a:solidFill>
                <a:latin typeface="Poppins"/>
                <a:ea typeface="Poppins"/>
                <a:cs typeface="Poppins"/>
                <a:sym typeface="Poppins"/>
              </a:rPr>
              <a:t>KEY RELATIONSHIPS</a:t>
            </a:r>
            <a:endParaRPr lang="en-US" sz="2400" b="1">
              <a:solidFill>
                <a:srgbClr val="1E40AF"/>
              </a:solidFill>
              <a:latin typeface="Poppins"/>
              <a:ea typeface="Poppins"/>
              <a:cs typeface="Poppins"/>
              <a:sym typeface="Poppins"/>
            </a:endParaRPr>
          </a:p>
        </p:txBody>
      </p:sp>
      <p:sp>
        <p:nvSpPr>
          <p:cNvPr id="29" name="AutoShape 29"/>
          <p:cNvSpPr/>
          <p:nvPr/>
        </p:nvSpPr>
        <p:spPr>
          <a:xfrm>
            <a:off x="9670415" y="5290185"/>
            <a:ext cx="4318000" cy="889000"/>
          </a:xfrm>
          <a:prstGeom prst="rect">
            <a:avLst/>
          </a:prstGeom>
          <a:noFill/>
          <a:ln w="19050" cap="flat" cmpd="sng">
            <a:noFill/>
            <a:prstDash val="solid"/>
            <a:round/>
          </a:ln>
        </p:spPr>
        <p:txBody>
          <a:bodyPr vert="horz" wrap="square" lIns="0" tIns="0" rIns="0" bIns="0" rtlCol="0" anchor="ctr" anchorCtr="0"/>
          <a:lstStyle/>
          <a:p>
            <a:pPr indent="0" algn="l">
              <a:lnSpc>
                <a:spcPct val="108000"/>
              </a:lnSpc>
              <a:defRPr/>
            </a:pPr>
            <a:r>
              <a:rPr lang="en-US" b="0" i="0" u="none" strike="noStrike">
                <a:solidFill>
                  <a:srgbClr val="374151"/>
                </a:solidFill>
                <a:latin typeface="Noto Sans SC"/>
                <a:ea typeface="Noto Sans SC"/>
                <a:cs typeface="Noto Sans SC"/>
                <a:sym typeface="Noto Sans SC"/>
              </a:rPr>
              <a:t>•</a:t>
            </a:r>
            <a:r>
              <a:rPr lang="en-US" b="1" i="0" u="none" strike="noStrike">
                <a:solidFill>
                  <a:srgbClr val="374151"/>
                </a:solidFill>
                <a:latin typeface="Noto Sans SC"/>
                <a:ea typeface="Noto Sans SC"/>
                <a:cs typeface="Noto Sans SC"/>
                <a:sym typeface="Noto Sans SC"/>
              </a:rPr>
              <a:t>1:N</a:t>
            </a:r>
            <a:r>
              <a:rPr lang="en-US" b="0" i="0" u="none" strike="noStrike">
                <a:solidFill>
                  <a:srgbClr val="374151"/>
                </a:solidFill>
                <a:latin typeface="Noto Sans SC"/>
                <a:ea typeface="Noto Sans SC"/>
                <a:cs typeface="Noto Sans SC"/>
                <a:sym typeface="Noto Sans SC"/>
              </a:rPr>
              <a:t>: One Category contains many MenuItems.</a:t>
            </a:r>
            <a:br>
              <a:rPr lang="en-US" b="0" i="0" u="none" strike="noStrike">
                <a:solidFill>
                  <a:srgbClr val="374151"/>
                </a:solidFill>
                <a:latin typeface="Noto Sans SC"/>
                <a:ea typeface="Noto Sans SC"/>
                <a:cs typeface="Noto Sans SC"/>
                <a:sym typeface="Noto Sans SC"/>
              </a:rPr>
            </a:br>
            <a:r>
              <a:rPr lang="en-US" b="0" i="0" u="none" strike="noStrike">
                <a:solidFill>
                  <a:srgbClr val="374151"/>
                </a:solidFill>
                <a:latin typeface="Noto Sans SC"/>
                <a:ea typeface="Noto Sans SC"/>
                <a:cs typeface="Noto Sans SC"/>
                <a:sym typeface="Noto Sans SC"/>
              </a:rPr>
              <a:t>•</a:t>
            </a:r>
            <a:r>
              <a:rPr lang="en-US" b="1" i="0" u="none" strike="noStrike">
                <a:solidFill>
                  <a:srgbClr val="374151"/>
                </a:solidFill>
                <a:latin typeface="Noto Sans SC"/>
                <a:ea typeface="Noto Sans SC"/>
                <a:cs typeface="Noto Sans SC"/>
                <a:sym typeface="Noto Sans SC"/>
              </a:rPr>
              <a:t>M:N</a:t>
            </a:r>
            <a:r>
              <a:rPr lang="en-US" b="0" i="0" u="none" strike="noStrike">
                <a:solidFill>
                  <a:srgbClr val="374151"/>
                </a:solidFill>
                <a:latin typeface="Noto Sans SC"/>
                <a:ea typeface="Noto Sans SC"/>
                <a:cs typeface="Noto Sans SC"/>
                <a:sym typeface="Noto Sans SC"/>
              </a:rPr>
              <a:t>: Combos link to many MenuItems via a</a:t>
            </a:r>
            <a:r>
              <a:rPr lang="en-US" b="1" i="0" u="none" strike="noStrike">
                <a:solidFill>
                  <a:srgbClr val="374151"/>
                </a:solidFill>
                <a:latin typeface="Noto Sans SC"/>
                <a:ea typeface="Noto Sans SC"/>
                <a:cs typeface="Noto Sans SC"/>
                <a:sym typeface="Noto Sans SC"/>
              </a:rPr>
              <a:t>ComboItem</a:t>
            </a:r>
            <a:r>
              <a:rPr lang="en-US" b="0" i="0" u="none" strike="noStrike">
                <a:solidFill>
                  <a:srgbClr val="374151"/>
                </a:solidFill>
                <a:latin typeface="Noto Sans SC"/>
                <a:ea typeface="Noto Sans SC"/>
                <a:cs typeface="Noto Sans SC"/>
                <a:sym typeface="Noto Sans SC"/>
              </a:rPr>
              <a:t>junction table.</a:t>
            </a:r>
            <a:endParaRPr lang="en-US" b="0" i="0" u="none" strike="noStrike">
              <a:solidFill>
                <a:srgbClr val="374151"/>
              </a:solidFill>
              <a:latin typeface="Noto Sans SC"/>
              <a:ea typeface="Noto Sans SC"/>
              <a:cs typeface="Noto Sans SC"/>
              <a:sym typeface="Noto Sans SC"/>
            </a:endParaRPr>
          </a:p>
        </p:txBody>
      </p:sp>
      <p:sp>
        <p:nvSpPr>
          <p:cNvPr id="30" name="AutoShape 30"/>
          <p:cNvSpPr/>
          <p:nvPr/>
        </p:nvSpPr>
        <p:spPr>
          <a:xfrm>
            <a:off x="9416415" y="6518910"/>
            <a:ext cx="5853430" cy="1984375"/>
          </a:xfrm>
          <a:prstGeom prst="roundRect">
            <a:avLst>
              <a:gd name="adj" fmla="val 7692"/>
            </a:avLst>
          </a:pr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9670415" y="6645910"/>
            <a:ext cx="4318000" cy="381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Poppins"/>
                <a:ea typeface="Poppins"/>
                <a:cs typeface="Poppins"/>
                <a:sym typeface="Poppins"/>
              </a:rPr>
              <a:t>DESIGN RATIONALE</a:t>
            </a:r>
            <a:endParaRPr lang="en-US" sz="2400" b="1" i="0" u="none" strike="noStrike">
              <a:solidFill>
                <a:srgbClr val="FFFFFF"/>
              </a:solidFill>
              <a:latin typeface="Poppins"/>
              <a:ea typeface="Poppins"/>
              <a:cs typeface="Poppins"/>
              <a:sym typeface="Poppins"/>
            </a:endParaRPr>
          </a:p>
        </p:txBody>
      </p:sp>
      <p:sp>
        <p:nvSpPr>
          <p:cNvPr id="32" name="AutoShape 32"/>
          <p:cNvSpPr/>
          <p:nvPr/>
        </p:nvSpPr>
        <p:spPr>
          <a:xfrm>
            <a:off x="9670415" y="7222490"/>
            <a:ext cx="5197475" cy="1016000"/>
          </a:xfrm>
          <a:prstGeom prst="rect">
            <a:avLst/>
          </a:prstGeom>
          <a:noFill/>
          <a:ln w="1905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EFF6FF">
                    <a:alpha val="90196"/>
                  </a:srgbClr>
                </a:solidFill>
                <a:latin typeface="Noto Sans SC"/>
                <a:ea typeface="Noto Sans SC"/>
                <a:cs typeface="Noto Sans SC"/>
                <a:sym typeface="Noto Sans SC"/>
              </a:rPr>
              <a:t>Using a junction table enables precise tracking of ingredient quantities within each combo. This design ensures data integrity and provides the flexibility needed to calculate accurate nutritional values for custom meals.</a:t>
            </a:r>
            <a:endParaRPr lang="en-US" sz="1600" b="0" i="0" u="none" strike="noStrike">
              <a:solidFill>
                <a:srgbClr val="EFF6FF">
                  <a:alpha val="90196"/>
                </a:srgbClr>
              </a:solidFill>
              <a:latin typeface="Noto Sans SC"/>
              <a:ea typeface="Noto Sans SC"/>
              <a:cs typeface="Noto Sans SC"/>
              <a:sym typeface="Noto Sans SC"/>
            </a:endParaRPr>
          </a:p>
        </p:txBody>
      </p:sp>
      <p:sp>
        <p:nvSpPr>
          <p:cNvPr id="23" name="AutoShape 23"/>
          <p:cNvSpPr/>
          <p:nvPr/>
        </p:nvSpPr>
        <p:spPr>
          <a:xfrm>
            <a:off x="3098165" y="685800"/>
            <a:ext cx="8267700" cy="889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305BA4"/>
                </a:solidFill>
                <a:latin typeface="Fredoka"/>
                <a:ea typeface="Fredoka"/>
                <a:cs typeface="Fredoka"/>
                <a:sym typeface="Fredoka"/>
              </a:rPr>
              <a:t>Data Model &amp; Relationships</a:t>
            </a:r>
            <a:endParaRPr lang="en-US" sz="4800" b="1" i="0" u="none" strike="noStrike">
              <a:solidFill>
                <a:srgbClr val="305BA4"/>
              </a:solidFill>
              <a:latin typeface="Fredoka"/>
              <a:ea typeface="Fredoka"/>
              <a:cs typeface="Fredoka"/>
              <a:sym typeface="Fredoka"/>
            </a:endParaRPr>
          </a:p>
        </p:txBody>
      </p:sp>
      <p:pic>
        <p:nvPicPr>
          <p:cNvPr id="33" name="图片 5" descr="JWT鉴权时序图生成"/>
          <p:cNvPicPr>
            <a:picLocks noChangeAspect="1"/>
          </p:cNvPicPr>
          <p:nvPr/>
        </p:nvPicPr>
        <p:blipFill>
          <a:blip r:embed="rId9"/>
          <a:srcRect t="11585" b="9737"/>
          <a:stretch>
            <a:fillRect/>
          </a:stretch>
        </p:blipFill>
        <p:spPr>
          <a:xfrm>
            <a:off x="591185" y="3658870"/>
            <a:ext cx="7613015" cy="3994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a:blip r:embed="rId1"/>
          <a:srcRect l="99" r="99"/>
          <a:stretch>
            <a:fillRect/>
          </a:stretch>
        </p:blipFill>
        <p:spPr>
          <a:xfrm rot="-1920000" flipV="1">
            <a:off x="13919200" y="-1943100"/>
            <a:ext cx="5105400" cy="6019800"/>
          </a:xfrm>
          <a:prstGeom prst="rect">
            <a:avLst/>
          </a:prstGeom>
          <a:noFill/>
          <a:ln w="25400" cap="flat" cmpd="sng">
            <a:noFill/>
            <a:prstDash val="solid"/>
            <a:round/>
          </a:ln>
        </p:spPr>
      </p:pic>
      <p:pic>
        <p:nvPicPr>
          <p:cNvPr id="5" name="Picture 5"/>
          <p:cNvPicPr>
            <a:picLocks noChangeAspect="1"/>
          </p:cNvPicPr>
          <p:nvPr/>
        </p:nvPicPr>
        <p:blipFill>
          <a:blip r:embed="rId2"/>
          <a:srcRect l="99" r="99"/>
          <a:stretch>
            <a:fillRect/>
          </a:stretch>
        </p:blipFill>
        <p:spPr>
          <a:xfrm rot="-4080000" flipV="1">
            <a:off x="-50800" y="-2146300"/>
            <a:ext cx="5105400" cy="6019800"/>
          </a:xfrm>
          <a:prstGeom prst="rect">
            <a:avLst/>
          </a:prstGeom>
          <a:noFill/>
          <a:ln w="25400" cap="flat" cmpd="sng">
            <a:noFill/>
            <a:prstDash val="solid"/>
            <a:round/>
          </a:ln>
        </p:spPr>
      </p:pic>
      <p:pic>
        <p:nvPicPr>
          <p:cNvPr id="6" name="Picture 6"/>
          <p:cNvPicPr>
            <a:picLocks noChangeAspect="1"/>
          </p:cNvPicPr>
          <p:nvPr/>
        </p:nvPicPr>
        <p:blipFill>
          <a:blip r:embed="rId3"/>
          <a:srcRect l="99" r="99"/>
          <a:stretch>
            <a:fillRect/>
          </a:stretch>
        </p:blipFill>
        <p:spPr>
          <a:xfrm rot="-1920000" flipV="1">
            <a:off x="13119100" y="-2819400"/>
            <a:ext cx="5105400" cy="6019800"/>
          </a:xfrm>
          <a:prstGeom prst="rect">
            <a:avLst/>
          </a:prstGeom>
          <a:noFill/>
          <a:ln w="25400" cap="flat" cmpd="sng">
            <a:noFill/>
            <a:prstDash val="solid"/>
            <a:round/>
          </a:ln>
        </p:spPr>
      </p:pic>
      <p:pic>
        <p:nvPicPr>
          <p:cNvPr id="7" name="Picture 7"/>
          <p:cNvPicPr>
            <a:picLocks noChangeAspect="1"/>
          </p:cNvPicPr>
          <p:nvPr/>
        </p:nvPicPr>
        <p:blipFill>
          <a:blip r:embed="rId4"/>
          <a:srcRect l="99" r="99"/>
          <a:stretch>
            <a:fillRect/>
          </a:stretch>
        </p:blipFill>
        <p:spPr>
          <a:xfrm rot="-4080000" flipV="1">
            <a:off x="-1231900" y="-2387600"/>
            <a:ext cx="5105400" cy="6019800"/>
          </a:xfrm>
          <a:prstGeom prst="rect">
            <a:avLst/>
          </a:prstGeom>
          <a:noFill/>
          <a:ln w="25400" cap="flat" cmpd="sng">
            <a:noFill/>
            <a:prstDash val="solid"/>
            <a:round/>
          </a:ln>
        </p:spPr>
      </p:pic>
      <p:sp>
        <p:nvSpPr>
          <p:cNvPr id="8" name="Freeform 8"/>
          <p:cNvSpPr/>
          <p:nvPr/>
        </p:nvSpPr>
        <p:spPr>
          <a:xfrm rot="8880000">
            <a:off x="14897100" y="10668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rot="6720000">
            <a:off x="1308100" y="16383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rot="8880000">
            <a:off x="15430500" y="13081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rot="6720000">
            <a:off x="1955800" y="13589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959350" y="565150"/>
            <a:ext cx="7835900" cy="1524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5600" b="1" i="0" u="none" strike="noStrike">
                <a:solidFill>
                  <a:srgbClr val="305BA4"/>
                </a:solidFill>
                <a:latin typeface="Fredoka"/>
                <a:ea typeface="Fredoka"/>
                <a:cs typeface="Fredoka"/>
                <a:sym typeface="Fredoka"/>
              </a:rPr>
              <a:t>API ENDPOINT OVERVIEW</a:t>
            </a:r>
            <a:endParaRPr lang="en-US" sz="1100"/>
          </a:p>
        </p:txBody>
      </p:sp>
      <p:pic>
        <p:nvPicPr>
          <p:cNvPr id="21" name="图片 20" descr="截屏2026-04-21 23.28.25"/>
          <p:cNvPicPr>
            <a:picLocks noChangeAspect="1"/>
          </p:cNvPicPr>
          <p:nvPr/>
        </p:nvPicPr>
        <p:blipFill>
          <a:blip r:embed="rId5"/>
          <a:stretch>
            <a:fillRect/>
          </a:stretch>
        </p:blipFill>
        <p:spPr>
          <a:xfrm>
            <a:off x="1288415" y="2451735"/>
            <a:ext cx="15417800" cy="6235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1"/>
          <a:srcRect l="99" r="99"/>
          <a:stretch>
            <a:fillRect/>
          </a:stretch>
        </p:blipFill>
        <p:spPr>
          <a:xfrm rot="10800000" flipV="1">
            <a:off x="-774700" y="5638800"/>
            <a:ext cx="5105400" cy="6019800"/>
          </a:xfrm>
          <a:prstGeom prst="rect">
            <a:avLst/>
          </a:prstGeom>
          <a:noFill/>
          <a:ln w="25400" cap="flat" cmpd="sng">
            <a:noFill/>
            <a:prstDash val="solid"/>
            <a:round/>
          </a:ln>
        </p:spPr>
      </p:pic>
      <p:pic>
        <p:nvPicPr>
          <p:cNvPr id="4" name="Picture 4"/>
          <p:cNvPicPr>
            <a:picLocks noChangeAspect="1"/>
          </p:cNvPicPr>
          <p:nvPr/>
        </p:nvPicPr>
        <p:blipFill>
          <a:blip r:embed="rId2"/>
          <a:srcRect l="99" r="99"/>
          <a:stretch>
            <a:fillRect/>
          </a:stretch>
        </p:blipFill>
        <p:spPr>
          <a:xfrm rot="-540000" flipV="1">
            <a:off x="13855700" y="-990600"/>
            <a:ext cx="5105400" cy="6019800"/>
          </a:xfrm>
          <a:prstGeom prst="rect">
            <a:avLst/>
          </a:prstGeom>
          <a:noFill/>
          <a:ln w="25400" cap="flat" cmpd="sng">
            <a:noFill/>
            <a:prstDash val="solid"/>
            <a:round/>
          </a:ln>
        </p:spPr>
      </p:pic>
      <p:pic>
        <p:nvPicPr>
          <p:cNvPr id="5" name="Picture 5"/>
          <p:cNvPicPr>
            <a:picLocks noChangeAspect="1"/>
          </p:cNvPicPr>
          <p:nvPr/>
        </p:nvPicPr>
        <p:blipFill>
          <a:blip r:embed="rId3"/>
          <a:srcRect l="99" r="99"/>
          <a:stretch>
            <a:fillRect/>
          </a:stretch>
        </p:blipFill>
        <p:spPr>
          <a:xfrm rot="10800000" flipV="1">
            <a:off x="-546100" y="6807200"/>
            <a:ext cx="5105400" cy="6019800"/>
          </a:xfrm>
          <a:prstGeom prst="rect">
            <a:avLst/>
          </a:prstGeom>
          <a:noFill/>
          <a:ln w="25400" cap="flat" cmpd="sng">
            <a:noFill/>
            <a:prstDash val="solid"/>
            <a:round/>
          </a:ln>
        </p:spPr>
      </p:pic>
      <p:pic>
        <p:nvPicPr>
          <p:cNvPr id="6" name="Picture 6"/>
          <p:cNvPicPr>
            <a:picLocks noChangeAspect="1"/>
          </p:cNvPicPr>
          <p:nvPr/>
        </p:nvPicPr>
        <p:blipFill>
          <a:blip r:embed="rId4"/>
          <a:srcRect l="99" r="99"/>
          <a:stretch>
            <a:fillRect/>
          </a:stretch>
        </p:blipFill>
        <p:spPr>
          <a:xfrm rot="-540000" flipV="1">
            <a:off x="13462000" y="-2108200"/>
            <a:ext cx="5105400" cy="6019800"/>
          </a:xfrm>
          <a:prstGeom prst="rect">
            <a:avLst/>
          </a:prstGeom>
          <a:noFill/>
          <a:ln w="25400" cap="flat" cmpd="sng">
            <a:noFill/>
            <a:prstDash val="solid"/>
            <a:round/>
          </a:ln>
        </p:spPr>
      </p:pic>
      <p:sp>
        <p:nvSpPr>
          <p:cNvPr id="7" name="Freeform 7"/>
          <p:cNvSpPr/>
          <p:nvPr/>
        </p:nvSpPr>
        <p:spPr>
          <a:xfrm>
            <a:off x="2857500" y="90170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260000">
            <a:off x="14871700" y="14605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rot="10260000">
            <a:off x="16835120" y="5765165"/>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rot="10260000">
            <a:off x="2298700" y="29845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rot="10260000">
            <a:off x="2667000" y="3810000"/>
            <a:ext cx="1251040" cy="1251040"/>
          </a:xfrm>
          <a:custGeom>
            <a:avLst/>
            <a:gdLst/>
            <a:ahLst/>
            <a:cxnLst/>
            <a:rect l="l" t="t" r="r" b="b"/>
            <a:pathLst>
              <a:path w="1251040" h="1251040">
                <a:moveTo>
                  <a:pt x="625519" y="0"/>
                </a:moveTo>
                <a:cubicBezTo>
                  <a:pt x="280054" y="0"/>
                  <a:pt x="0" y="280054"/>
                  <a:pt x="0" y="625519"/>
                </a:cubicBezTo>
                <a:cubicBezTo>
                  <a:pt x="0" y="970986"/>
                  <a:pt x="280054" y="1251040"/>
                  <a:pt x="625519" y="1251040"/>
                </a:cubicBezTo>
                <a:cubicBezTo>
                  <a:pt x="970986" y="1251040"/>
                  <a:pt x="1251040" y="970986"/>
                  <a:pt x="1251040" y="625519"/>
                </a:cubicBezTo>
                <a:cubicBezTo>
                  <a:pt x="1251040" y="280054"/>
                  <a:pt x="970986" y="0"/>
                  <a:pt x="62551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2273300" y="80645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rot="10260000">
            <a:off x="15176500" y="19558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rot="10260000">
            <a:off x="15793720" y="4812665"/>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srcRect l="190" r="190"/>
          <a:stretch>
            <a:fillRect/>
          </a:stretch>
        </p:blipFill>
        <p:spPr>
          <a:xfrm>
            <a:off x="15737205" y="6667500"/>
            <a:ext cx="2336800" cy="3619500"/>
          </a:xfrm>
          <a:prstGeom prst="rect">
            <a:avLst/>
          </a:prstGeom>
          <a:noFill/>
          <a:ln w="25400" cap="flat" cmpd="sng">
            <a:noFill/>
            <a:prstDash val="solid"/>
            <a:round/>
          </a:ln>
        </p:spPr>
      </p:pic>
      <p:sp>
        <p:nvSpPr>
          <p:cNvPr id="16" name="AutoShape 16"/>
          <p:cNvSpPr/>
          <p:nvPr/>
        </p:nvSpPr>
        <p:spPr>
          <a:xfrm>
            <a:off x="2146935" y="518795"/>
            <a:ext cx="8255000" cy="1143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endParaRPr lang="en-US" sz="4800" b="1" i="0" u="none" strike="noStrike">
              <a:solidFill>
                <a:schemeClr val="accent1"/>
              </a:solidFill>
              <a:latin typeface="Fredoka"/>
              <a:ea typeface="Fredoka"/>
              <a:cs typeface="Fredoka"/>
              <a:sym typeface="Fredoka"/>
            </a:endParaRPr>
          </a:p>
        </p:txBody>
      </p:sp>
      <p:sp>
        <p:nvSpPr>
          <p:cNvPr id="19" name="AutoShape 19"/>
          <p:cNvSpPr/>
          <p:nvPr/>
        </p:nvSpPr>
        <p:spPr>
          <a:xfrm>
            <a:off x="4116705" y="7997190"/>
            <a:ext cx="11176000" cy="1397000"/>
          </a:xfrm>
          <a:prstGeom prst="roundRect">
            <a:avLst>
              <a:gd name="adj" fmla="val 9090"/>
            </a:avLst>
          </a:prstGeom>
          <a:solidFill>
            <a:srgbClr val="0F172A">
              <a:alpha val="9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370705" y="8084185"/>
            <a:ext cx="10922000" cy="1270000"/>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7DD3FC"/>
                </a:solidFill>
                <a:latin typeface="Poppins"/>
                <a:ea typeface="Poppins"/>
                <a:cs typeface="Poppins"/>
                <a:sym typeface="Poppins"/>
              </a:rPr>
              <a:t>Example Request (Create):</a:t>
            </a:r>
            <a:r>
              <a:rPr lang="en-US" sz="1600" b="0" i="0" u="none" strike="noStrike">
                <a:solidFill>
                  <a:srgbClr val="CBD5E1"/>
                </a:solidFill>
                <a:latin typeface="Source Code Pro"/>
                <a:ea typeface="Source Code Pro"/>
                <a:cs typeface="Source Code Pro"/>
                <a:sym typeface="Source Code Pro"/>
              </a:rPr>
              <a:t>{ "name": "High Protein Builder", "items": [{ "item_id": 101, "quantity": 2 }] }</a:t>
            </a:r>
            <a:endParaRPr lang="en-US"/>
          </a:p>
          <a:p>
            <a:pPr indent="0" algn="l">
              <a:lnSpc>
                <a:spcPct val="100000"/>
              </a:lnSpc>
            </a:pPr>
            <a:r>
              <a:rPr lang="en-US" sz="1600" b="0" i="0" u="none" strike="noStrike">
                <a:solidFill>
                  <a:srgbClr val="94A3B8"/>
                </a:solidFill>
                <a:latin typeface="Noto Sans SC"/>
                <a:ea typeface="Noto Sans SC"/>
                <a:cs typeface="Noto Sans SC"/>
                <a:sym typeface="Noto Sans SC"/>
              </a:rPr>
              <a:t>The JSON payload defines the combo's identity and composition for persistent storage.</a:t>
            </a:r>
            <a:endParaRPr lang="en-US" sz="1600" b="0" i="0" u="none" strike="noStrike">
              <a:solidFill>
                <a:srgbClr val="94A3B8"/>
              </a:solidFill>
              <a:latin typeface="Noto Sans SC"/>
              <a:ea typeface="Noto Sans SC"/>
              <a:cs typeface="Noto Sans SC"/>
              <a:sym typeface="Noto Sans SC"/>
            </a:endParaRPr>
          </a:p>
        </p:txBody>
      </p:sp>
      <p:sp>
        <p:nvSpPr>
          <p:cNvPr id="23" name="AutoShape 23"/>
          <p:cNvSpPr/>
          <p:nvPr/>
        </p:nvSpPr>
        <p:spPr>
          <a:xfrm>
            <a:off x="3098165" y="685800"/>
            <a:ext cx="8267700" cy="889000"/>
          </a:xfrm>
          <a:prstGeom prst="rect">
            <a:avLst/>
          </a:prstGeom>
          <a:noFill/>
          <a:ln w="19050" cap="flat" cmpd="sng">
            <a:noFill/>
            <a:prstDash val="solid"/>
            <a:round/>
          </a:ln>
        </p:spPr>
        <p:txBody>
          <a:bodyPr vert="horz" wrap="square" lIns="0" tIns="0" rIns="0" bIns="0" rtlCol="0" anchor="ctr" anchorCtr="0"/>
          <a:p>
            <a:pPr indent="0" algn="l">
              <a:lnSpc>
                <a:spcPct val="125000"/>
              </a:lnSpc>
              <a:defRPr/>
            </a:pPr>
            <a:endParaRPr lang="en-US" sz="4800" b="1" i="0" u="none" strike="noStrike">
              <a:solidFill>
                <a:srgbClr val="305BA4"/>
              </a:solidFill>
              <a:latin typeface="Fredoka"/>
              <a:ea typeface="Fredoka"/>
              <a:cs typeface="Fredoka"/>
              <a:sym typeface="Fredoka"/>
            </a:endParaRPr>
          </a:p>
          <a:p>
            <a:pPr indent="0" algn="l">
              <a:lnSpc>
                <a:spcPct val="125000"/>
              </a:lnSpc>
              <a:defRPr/>
            </a:pPr>
            <a:r>
              <a:rPr lang="en-US" sz="4800" b="1">
                <a:solidFill>
                  <a:srgbClr val="305BA4"/>
                </a:solidFill>
                <a:latin typeface="Fredoka"/>
                <a:ea typeface="Fredoka"/>
                <a:cs typeface="Fredoka"/>
                <a:sym typeface="Fredoka"/>
              </a:rPr>
              <a:t>Core CRUD Walkthrough: Meal Combos</a:t>
            </a:r>
            <a:endParaRPr lang="en-US" sz="4800" b="1" i="0" u="none" strike="noStrike">
              <a:solidFill>
                <a:srgbClr val="305BA4"/>
              </a:solidFill>
              <a:latin typeface="Fredoka"/>
              <a:ea typeface="Fredoka"/>
              <a:cs typeface="Fredoka"/>
              <a:sym typeface="Fredoka"/>
            </a:endParaRPr>
          </a:p>
          <a:p>
            <a:pPr indent="0" algn="l">
              <a:lnSpc>
                <a:spcPct val="125000"/>
              </a:lnSpc>
              <a:defRPr/>
            </a:pPr>
            <a:endParaRPr lang="en-US" sz="4800" b="1" i="0" u="none" strike="noStrike">
              <a:solidFill>
                <a:srgbClr val="305BA4"/>
              </a:solidFill>
              <a:latin typeface="Fredoka"/>
              <a:ea typeface="Fredoka"/>
              <a:cs typeface="Fredoka"/>
              <a:sym typeface="Fredoka"/>
            </a:endParaRPr>
          </a:p>
        </p:txBody>
      </p:sp>
      <p:pic>
        <p:nvPicPr>
          <p:cNvPr id="21" name="图片 20" descr="截屏2026-04-21 23.31.42"/>
          <p:cNvPicPr>
            <a:picLocks noChangeAspect="1"/>
          </p:cNvPicPr>
          <p:nvPr/>
        </p:nvPicPr>
        <p:blipFill>
          <a:blip r:embed="rId6"/>
          <a:stretch>
            <a:fillRect/>
          </a:stretch>
        </p:blipFill>
        <p:spPr>
          <a:xfrm>
            <a:off x="1417955" y="2651760"/>
            <a:ext cx="6600825" cy="4441825"/>
          </a:xfrm>
          <a:prstGeom prst="rect">
            <a:avLst/>
          </a:prstGeom>
        </p:spPr>
      </p:pic>
      <p:pic>
        <p:nvPicPr>
          <p:cNvPr id="25" name="图片 24" descr="截屏2026-04-21 23.32.51"/>
          <p:cNvPicPr>
            <a:picLocks noChangeAspect="1"/>
          </p:cNvPicPr>
          <p:nvPr/>
        </p:nvPicPr>
        <p:blipFill>
          <a:blip r:embed="rId7"/>
          <a:stretch>
            <a:fillRect/>
          </a:stretch>
        </p:blipFill>
        <p:spPr>
          <a:xfrm>
            <a:off x="8661400" y="2610485"/>
            <a:ext cx="6432550" cy="43726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Freeform 4"/>
          <p:cNvSpPr/>
          <p:nvPr/>
        </p:nvSpPr>
        <p:spPr>
          <a:xfrm>
            <a:off x="15913100" y="53467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951200" y="53594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1549400" y="2108200"/>
            <a:ext cx="288318" cy="288318"/>
          </a:xfrm>
          <a:custGeom>
            <a:avLst/>
            <a:gdLst/>
            <a:ahLst/>
            <a:cxnLst/>
            <a:rect l="l" t="t" r="r" b="b"/>
            <a:pathLst>
              <a:path w="288318" h="288318">
                <a:moveTo>
                  <a:pt x="144159" y="0"/>
                </a:moveTo>
                <a:cubicBezTo>
                  <a:pt x="64541" y="0"/>
                  <a:pt x="0" y="64541"/>
                  <a:pt x="0" y="144159"/>
                </a:cubicBezTo>
                <a:cubicBezTo>
                  <a:pt x="0" y="223777"/>
                  <a:pt x="64541" y="288318"/>
                  <a:pt x="144159" y="288318"/>
                </a:cubicBezTo>
                <a:cubicBezTo>
                  <a:pt x="223777" y="288318"/>
                  <a:pt x="288318" y="223777"/>
                  <a:pt x="288318" y="144159"/>
                </a:cubicBezTo>
                <a:cubicBezTo>
                  <a:pt x="288318" y="64541"/>
                  <a:pt x="223777" y="0"/>
                  <a:pt x="14415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574800" y="2120900"/>
            <a:ext cx="228600" cy="2540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1117600" y="256540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68400" y="2590800"/>
            <a:ext cx="469900" cy="4953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4986000" y="868680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5036800" y="8712200"/>
            <a:ext cx="469900" cy="4953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5443200" y="8229600"/>
            <a:ext cx="245421" cy="245421"/>
          </a:xfrm>
          <a:custGeom>
            <a:avLst/>
            <a:gdLst/>
            <a:ahLst/>
            <a:cxnLst/>
            <a:rect l="l" t="t" r="r" b="b"/>
            <a:pathLst>
              <a:path w="245421" h="245421">
                <a:moveTo>
                  <a:pt x="122710" y="0"/>
                </a:moveTo>
                <a:cubicBezTo>
                  <a:pt x="54939" y="0"/>
                  <a:pt x="0" y="54939"/>
                  <a:pt x="0" y="122710"/>
                </a:cubicBezTo>
                <a:cubicBezTo>
                  <a:pt x="0" y="190482"/>
                  <a:pt x="54939" y="245421"/>
                  <a:pt x="122710" y="245421"/>
                </a:cubicBezTo>
                <a:cubicBezTo>
                  <a:pt x="190482" y="245421"/>
                  <a:pt x="245421" y="190482"/>
                  <a:pt x="245421" y="122710"/>
                </a:cubicBezTo>
                <a:cubicBezTo>
                  <a:pt x="245421" y="54939"/>
                  <a:pt x="190482" y="0"/>
                  <a:pt x="122710"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5468600" y="8229600"/>
            <a:ext cx="203200" cy="215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5328900" y="43815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5405100" y="4419600"/>
            <a:ext cx="635000" cy="6731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pic>
        <p:nvPicPr>
          <p:cNvPr id="16" name="Picture 16"/>
          <p:cNvPicPr>
            <a:picLocks noChangeAspect="1"/>
          </p:cNvPicPr>
          <p:nvPr/>
        </p:nvPicPr>
        <p:blipFill>
          <a:blip r:embed="rId1"/>
          <a:srcRect t="35" b="35"/>
          <a:stretch>
            <a:fillRect/>
          </a:stretch>
        </p:blipFill>
        <p:spPr>
          <a:xfrm rot="-1439999">
            <a:off x="-1866900" y="-2565400"/>
            <a:ext cx="5791200" cy="5130800"/>
          </a:xfrm>
          <a:prstGeom prst="rect">
            <a:avLst/>
          </a:prstGeom>
          <a:noFill/>
          <a:ln w="25400" cap="flat" cmpd="sng">
            <a:noFill/>
            <a:prstDash val="solid"/>
            <a:round/>
          </a:ln>
        </p:spPr>
      </p:pic>
      <p:pic>
        <p:nvPicPr>
          <p:cNvPr id="17" name="Picture 17"/>
          <p:cNvPicPr>
            <a:picLocks noChangeAspect="1"/>
          </p:cNvPicPr>
          <p:nvPr/>
        </p:nvPicPr>
        <p:blipFill>
          <a:blip r:embed="rId2"/>
          <a:srcRect t="35" b="35"/>
          <a:stretch>
            <a:fillRect/>
          </a:stretch>
        </p:blipFill>
        <p:spPr>
          <a:xfrm rot="-2160000">
            <a:off x="-2374900" y="-2298700"/>
            <a:ext cx="5791200" cy="5130800"/>
          </a:xfrm>
          <a:prstGeom prst="rect">
            <a:avLst/>
          </a:prstGeom>
          <a:noFill/>
          <a:ln w="25400" cap="flat" cmpd="sng">
            <a:noFill/>
            <a:prstDash val="solid"/>
            <a:round/>
          </a:ln>
        </p:spPr>
      </p:pic>
      <p:pic>
        <p:nvPicPr>
          <p:cNvPr id="18" name="Picture 18"/>
          <p:cNvPicPr>
            <a:picLocks noChangeAspect="1"/>
          </p:cNvPicPr>
          <p:nvPr/>
        </p:nvPicPr>
        <p:blipFill>
          <a:blip r:embed="rId3"/>
          <a:srcRect t="13" b="13"/>
          <a:stretch>
            <a:fillRect/>
          </a:stretch>
        </p:blipFill>
        <p:spPr>
          <a:xfrm>
            <a:off x="12788900" y="6223000"/>
            <a:ext cx="8267700" cy="7607300"/>
          </a:xfrm>
          <a:prstGeom prst="rect">
            <a:avLst/>
          </a:prstGeom>
          <a:noFill/>
          <a:ln w="25400" cap="flat" cmpd="sng">
            <a:noFill/>
            <a:prstDash val="solid"/>
            <a:round/>
          </a:ln>
        </p:spPr>
      </p:pic>
      <p:pic>
        <p:nvPicPr>
          <p:cNvPr id="19" name="Picture 19"/>
          <p:cNvPicPr>
            <a:picLocks noChangeAspect="1"/>
          </p:cNvPicPr>
          <p:nvPr/>
        </p:nvPicPr>
        <p:blipFill>
          <a:blip r:embed="rId4"/>
          <a:srcRect t="13" b="13"/>
          <a:stretch>
            <a:fillRect/>
          </a:stretch>
        </p:blipFill>
        <p:spPr>
          <a:xfrm>
            <a:off x="12428220" y="7233920"/>
            <a:ext cx="8267700" cy="7607300"/>
          </a:xfrm>
          <a:prstGeom prst="rect">
            <a:avLst/>
          </a:prstGeom>
          <a:noFill/>
          <a:ln w="25400" cap="flat" cmpd="sng">
            <a:noFill/>
            <a:prstDash val="solid"/>
            <a:round/>
          </a:ln>
        </p:spPr>
      </p:pic>
      <p:pic>
        <p:nvPicPr>
          <p:cNvPr id="20" name="Picture 20"/>
          <p:cNvPicPr>
            <a:picLocks noChangeAspect="1"/>
          </p:cNvPicPr>
          <p:nvPr/>
        </p:nvPicPr>
        <p:blipFill>
          <a:blip r:embed="rId5"/>
          <a:srcRect l="4" r="4"/>
          <a:stretch>
            <a:fillRect/>
          </a:stretch>
        </p:blipFill>
        <p:spPr>
          <a:xfrm>
            <a:off x="941705" y="2705100"/>
            <a:ext cx="5854700" cy="5981700"/>
          </a:xfrm>
          <a:prstGeom prst="rect">
            <a:avLst/>
          </a:prstGeom>
          <a:noFill/>
          <a:ln w="25400" cap="flat" cmpd="sng">
            <a:noFill/>
            <a:prstDash val="solid"/>
            <a:round/>
          </a:ln>
        </p:spPr>
      </p:pic>
      <p:sp>
        <p:nvSpPr>
          <p:cNvPr id="21" name="AutoShape 21"/>
          <p:cNvSpPr/>
          <p:nvPr/>
        </p:nvSpPr>
        <p:spPr>
          <a:xfrm>
            <a:off x="4067810" y="598805"/>
            <a:ext cx="12560935" cy="2167255"/>
          </a:xfrm>
          <a:prstGeom prst="rect">
            <a:avLst/>
          </a:prstGeom>
          <a:noFill/>
          <a:ln w="19050" cap="flat" cmpd="sng">
            <a:noFill/>
            <a:prstDash val="solid"/>
            <a:round/>
          </a:ln>
        </p:spPr>
        <p:txBody>
          <a:bodyPr vert="horz" wrap="square" lIns="0" tIns="0" rIns="0" bIns="0" rtlCol="0" anchor="ctr" anchorCtr="0"/>
          <a:lstStyle/>
          <a:p>
            <a:pPr indent="0" algn="ctr">
              <a:lnSpc>
                <a:spcPct val="92000"/>
              </a:lnSpc>
              <a:defRPr/>
            </a:pPr>
            <a:r>
              <a:rPr lang="en-US" sz="4400" b="1" i="0" u="none" strike="noStrike">
                <a:solidFill>
                  <a:schemeClr val="accent1"/>
                </a:solidFill>
                <a:latin typeface="Fredoka"/>
                <a:ea typeface="Fredoka"/>
                <a:cs typeface="Fredoka"/>
                <a:sym typeface="Fredoka"/>
              </a:rPr>
              <a:t>Authentication &amp; Security Boundary</a:t>
            </a:r>
            <a:endParaRPr lang="en-US" sz="4400" b="1" i="0" u="none" strike="noStrike">
              <a:solidFill>
                <a:schemeClr val="accent1"/>
              </a:solidFill>
              <a:latin typeface="Fredoka"/>
              <a:ea typeface="Fredoka"/>
              <a:cs typeface="Fredoka"/>
              <a:sym typeface="Fredoka"/>
            </a:endParaRPr>
          </a:p>
        </p:txBody>
      </p:sp>
      <p:pic>
        <p:nvPicPr>
          <p:cNvPr id="24" name="图片 23" descr="截屏2026-04-21 23.36.00"/>
          <p:cNvPicPr>
            <a:picLocks noChangeAspect="1"/>
          </p:cNvPicPr>
          <p:nvPr/>
        </p:nvPicPr>
        <p:blipFill>
          <a:blip r:embed="rId6"/>
          <a:stretch>
            <a:fillRect/>
          </a:stretch>
        </p:blipFill>
        <p:spPr>
          <a:xfrm>
            <a:off x="6796405" y="2686050"/>
            <a:ext cx="9919970" cy="5418455"/>
          </a:xfrm>
          <a:prstGeom prst="rect">
            <a:avLst/>
          </a:prstGeom>
          <a:ln w="28575" cmpd="sng">
            <a:solidFill>
              <a:schemeClr val="accent1">
                <a:shade val="50000"/>
              </a:schemeClr>
            </a:solidFill>
            <a:prstDash val="dash"/>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35" b="135"/>
          <a:stretch>
            <a:fillRect/>
          </a:stretch>
        </p:blipFill>
        <p:spPr>
          <a:xfrm>
            <a:off x="2487295" y="1245235"/>
            <a:ext cx="13917295" cy="8193405"/>
          </a:xfrm>
          <a:prstGeom prst="rect">
            <a:avLst/>
          </a:prstGeom>
          <a:noFill/>
          <a:ln w="25400" cap="flat" cmpd="sng">
            <a:noFill/>
            <a:prstDash val="solid"/>
            <a:round/>
          </a:ln>
        </p:spPr>
      </p:pic>
      <p:pic>
        <p:nvPicPr>
          <p:cNvPr id="3" name="Picture 3"/>
          <p:cNvPicPr>
            <a:picLocks noChangeAspect="1"/>
          </p:cNvPicPr>
          <p:nvPr/>
        </p:nvPicPr>
        <p:blipFill>
          <a:blip r:embed="rId2"/>
          <a:srcRect l="99" r="99"/>
          <a:stretch>
            <a:fillRect/>
          </a:stretch>
        </p:blipFill>
        <p:spPr>
          <a:xfrm rot="10800000" flipV="1">
            <a:off x="-774700" y="5638800"/>
            <a:ext cx="5105400" cy="6019800"/>
          </a:xfrm>
          <a:prstGeom prst="rect">
            <a:avLst/>
          </a:prstGeom>
          <a:noFill/>
          <a:ln w="25400" cap="flat" cmpd="sng">
            <a:noFill/>
            <a:prstDash val="solid"/>
            <a:round/>
          </a:ln>
        </p:spPr>
      </p:pic>
      <p:pic>
        <p:nvPicPr>
          <p:cNvPr id="4" name="Picture 4"/>
          <p:cNvPicPr>
            <a:picLocks noChangeAspect="1"/>
          </p:cNvPicPr>
          <p:nvPr/>
        </p:nvPicPr>
        <p:blipFill>
          <a:blip r:embed="rId3"/>
          <a:srcRect l="99" r="99"/>
          <a:stretch>
            <a:fillRect/>
          </a:stretch>
        </p:blipFill>
        <p:spPr>
          <a:xfrm rot="-540000" flipV="1">
            <a:off x="13855700" y="-990600"/>
            <a:ext cx="5105400" cy="6019800"/>
          </a:xfrm>
          <a:prstGeom prst="rect">
            <a:avLst/>
          </a:prstGeom>
          <a:noFill/>
          <a:ln w="25400" cap="flat" cmpd="sng">
            <a:noFill/>
            <a:prstDash val="solid"/>
            <a:round/>
          </a:ln>
        </p:spPr>
      </p:pic>
      <p:pic>
        <p:nvPicPr>
          <p:cNvPr id="5" name="Picture 5"/>
          <p:cNvPicPr>
            <a:picLocks noChangeAspect="1"/>
          </p:cNvPicPr>
          <p:nvPr/>
        </p:nvPicPr>
        <p:blipFill>
          <a:blip r:embed="rId4"/>
          <a:srcRect l="99" r="99"/>
          <a:stretch>
            <a:fillRect/>
          </a:stretch>
        </p:blipFill>
        <p:spPr>
          <a:xfrm rot="10800000" flipV="1">
            <a:off x="-546100" y="6807200"/>
            <a:ext cx="5105400" cy="6019800"/>
          </a:xfrm>
          <a:prstGeom prst="rect">
            <a:avLst/>
          </a:prstGeom>
          <a:noFill/>
          <a:ln w="25400" cap="flat" cmpd="sng">
            <a:noFill/>
            <a:prstDash val="solid"/>
            <a:round/>
          </a:ln>
        </p:spPr>
      </p:pic>
      <p:pic>
        <p:nvPicPr>
          <p:cNvPr id="6" name="Picture 6"/>
          <p:cNvPicPr>
            <a:picLocks noChangeAspect="1"/>
          </p:cNvPicPr>
          <p:nvPr/>
        </p:nvPicPr>
        <p:blipFill>
          <a:blip r:embed="rId5"/>
          <a:srcRect l="99" r="99"/>
          <a:stretch>
            <a:fillRect/>
          </a:stretch>
        </p:blipFill>
        <p:spPr>
          <a:xfrm rot="-540000" flipV="1">
            <a:off x="13462000" y="-2108200"/>
            <a:ext cx="5105400" cy="6019800"/>
          </a:xfrm>
          <a:prstGeom prst="rect">
            <a:avLst/>
          </a:prstGeom>
          <a:noFill/>
          <a:ln w="25400" cap="flat" cmpd="sng">
            <a:noFill/>
            <a:prstDash val="solid"/>
            <a:round/>
          </a:ln>
        </p:spPr>
      </p:pic>
      <p:sp>
        <p:nvSpPr>
          <p:cNvPr id="7" name="Freeform 7"/>
          <p:cNvSpPr/>
          <p:nvPr/>
        </p:nvSpPr>
        <p:spPr>
          <a:xfrm>
            <a:off x="4219575" y="9314180"/>
            <a:ext cx="473710" cy="546100"/>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9" name="Freeform 9"/>
          <p:cNvSpPr/>
          <p:nvPr/>
        </p:nvSpPr>
        <p:spPr>
          <a:xfrm rot="10260000">
            <a:off x="14871700" y="14605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rot="10260000">
            <a:off x="14909800" y="1498600"/>
            <a:ext cx="317500" cy="3429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11" name="Freeform 11"/>
          <p:cNvSpPr/>
          <p:nvPr/>
        </p:nvSpPr>
        <p:spPr>
          <a:xfrm rot="10260000">
            <a:off x="13740765" y="5039995"/>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260000">
            <a:off x="13778865" y="5078095"/>
            <a:ext cx="317500" cy="3429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13" name="Freeform 13"/>
          <p:cNvSpPr/>
          <p:nvPr/>
        </p:nvSpPr>
        <p:spPr>
          <a:xfrm rot="10260000">
            <a:off x="2298700" y="29845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260000">
            <a:off x="2336800" y="3022600"/>
            <a:ext cx="317500" cy="3429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15" name="Freeform 15"/>
          <p:cNvSpPr/>
          <p:nvPr/>
        </p:nvSpPr>
        <p:spPr>
          <a:xfrm rot="10260000">
            <a:off x="929005" y="3810000"/>
            <a:ext cx="1251040" cy="1251040"/>
          </a:xfrm>
          <a:custGeom>
            <a:avLst/>
            <a:gdLst/>
            <a:ahLst/>
            <a:cxnLst/>
            <a:rect l="l" t="t" r="r" b="b"/>
            <a:pathLst>
              <a:path w="1251040" h="1251040">
                <a:moveTo>
                  <a:pt x="625519" y="0"/>
                </a:moveTo>
                <a:cubicBezTo>
                  <a:pt x="280054" y="0"/>
                  <a:pt x="0" y="280054"/>
                  <a:pt x="0" y="625519"/>
                </a:cubicBezTo>
                <a:cubicBezTo>
                  <a:pt x="0" y="970986"/>
                  <a:pt x="280054" y="1251040"/>
                  <a:pt x="625519" y="1251040"/>
                </a:cubicBezTo>
                <a:cubicBezTo>
                  <a:pt x="970986" y="1251040"/>
                  <a:pt x="1251040" y="970986"/>
                  <a:pt x="1251040" y="625519"/>
                </a:cubicBezTo>
                <a:cubicBezTo>
                  <a:pt x="1251040" y="280054"/>
                  <a:pt x="970986" y="0"/>
                  <a:pt x="62551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260000">
            <a:off x="2794000" y="3924300"/>
            <a:ext cx="1016000" cy="10795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17" name="Freeform 17"/>
          <p:cNvSpPr/>
          <p:nvPr/>
        </p:nvSpPr>
        <p:spPr>
          <a:xfrm>
            <a:off x="5018405" y="6441440"/>
            <a:ext cx="948055" cy="1093470"/>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18" name="AutoShape 18"/>
          <p:cNvSpPr/>
          <p:nvPr/>
        </p:nvSpPr>
        <p:spPr>
          <a:xfrm>
            <a:off x="5094605" y="6523355"/>
            <a:ext cx="766445" cy="937895"/>
          </a:xfrm>
          <a:prstGeom prst="rect">
            <a:avLst/>
          </a:prstGeom>
          <a:noFill/>
          <a:ln w="19050" cap="flat" cmpd="sng">
            <a:noFill/>
            <a:prstDash val="solid"/>
            <a:round/>
          </a:ln>
        </p:spPr>
        <p:txBody>
          <a:bodyPr vert="horz" wrap="square" lIns="0" tIns="0" rIns="0" bIns="0" rtlCol="0" anchor="ctr" anchorCtr="0"/>
          <a:lstStyle/>
          <a:p>
            <a:pPr algn="l">
              <a:defRPr/>
            </a:pPr>
            <a:endParaRPr sz="1600"/>
          </a:p>
        </p:txBody>
      </p:sp>
      <p:sp>
        <p:nvSpPr>
          <p:cNvPr id="19" name="Freeform 19"/>
          <p:cNvSpPr/>
          <p:nvPr/>
        </p:nvSpPr>
        <p:spPr>
          <a:xfrm rot="10260000">
            <a:off x="15176500" y="19558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260000">
            <a:off x="15252700" y="2032000"/>
            <a:ext cx="635000" cy="6731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21" name="Freeform 21"/>
          <p:cNvSpPr/>
          <p:nvPr/>
        </p:nvSpPr>
        <p:spPr>
          <a:xfrm rot="10260000">
            <a:off x="12699365" y="4087495"/>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rot="10260000">
            <a:off x="12775565" y="4163695"/>
            <a:ext cx="635000" cy="673100"/>
          </a:xfrm>
          <a:prstGeom prst="rect">
            <a:avLst/>
          </a:prstGeom>
          <a:noFill/>
          <a:ln w="19050" cap="flat" cmpd="sng">
            <a:noFill/>
            <a:prstDash val="solid"/>
            <a:round/>
          </a:ln>
        </p:spPr>
        <p:txBody>
          <a:bodyPr vert="horz" wrap="square" lIns="0" tIns="0" rIns="0" bIns="0" rtlCol="0" anchor="ctr" anchorCtr="0"/>
          <a:lstStyle/>
          <a:p>
            <a:pPr algn="l">
              <a:defRPr/>
            </a:pPr>
          </a:p>
        </p:txBody>
      </p:sp>
      <p:sp>
        <p:nvSpPr>
          <p:cNvPr id="23" name="AutoShape 23"/>
          <p:cNvSpPr/>
          <p:nvPr/>
        </p:nvSpPr>
        <p:spPr>
          <a:xfrm>
            <a:off x="4559300" y="1441450"/>
            <a:ext cx="9212580" cy="1524000"/>
          </a:xfrm>
          <a:prstGeom prst="rect">
            <a:avLst/>
          </a:prstGeom>
          <a:noFill/>
          <a:ln w="19050" cap="flat" cmpd="sng">
            <a:noFill/>
            <a:prstDash val="solid"/>
            <a:round/>
          </a:ln>
        </p:spPr>
        <p:txBody>
          <a:bodyPr vert="horz" wrap="square" lIns="0" tIns="0" rIns="0" bIns="0" rtlCol="0" anchor="ctr" anchorCtr="0"/>
          <a:lstStyle/>
          <a:p>
            <a:pPr indent="0" algn="ctr">
              <a:lnSpc>
                <a:spcPts val="7000"/>
              </a:lnSpc>
              <a:defRPr/>
            </a:pPr>
            <a:r>
              <a:rPr lang="en-US" sz="4800" b="1" i="0" u="none" strike="noStrike">
                <a:solidFill>
                  <a:srgbClr val="FFFFFF"/>
                </a:solidFill>
                <a:latin typeface="Fredoka"/>
                <a:ea typeface="Fredoka"/>
                <a:cs typeface="Fredoka"/>
                <a:sym typeface="Fredoka"/>
              </a:rPr>
              <a:t>Analytics &amp; Creative Features</a:t>
            </a:r>
            <a:endParaRPr lang="en-US" sz="4800" b="1" i="0" u="none" strike="noStrike">
              <a:solidFill>
                <a:srgbClr val="FFFFFF"/>
              </a:solidFill>
              <a:latin typeface="Fredoka"/>
              <a:ea typeface="Fredoka"/>
              <a:cs typeface="Fredoka"/>
              <a:sym typeface="Fredoka"/>
            </a:endParaRPr>
          </a:p>
        </p:txBody>
      </p:sp>
      <p:sp>
        <p:nvSpPr>
          <p:cNvPr id="24" name="AutoShape 24"/>
          <p:cNvSpPr/>
          <p:nvPr/>
        </p:nvSpPr>
        <p:spPr>
          <a:xfrm>
            <a:off x="3881120" y="2955925"/>
            <a:ext cx="5983605" cy="1592580"/>
          </a:xfrm>
          <a:prstGeom prst="roundRect">
            <a:avLst>
              <a:gd name="adj" fmla="val 11111"/>
            </a:avLst>
          </a:prstGeom>
          <a:solidFill>
            <a:schemeClr val="accent1">
              <a:lumMod val="50000"/>
              <a:alpha val="90000"/>
            </a:schemeClr>
          </a:solidFill>
          <a:ln w="25400" cap="flat" cmpd="sng">
            <a:noFill/>
            <a:prstDash val="solid"/>
            <a:round/>
          </a:ln>
          <a:effectLst>
            <a:outerShdw blurRad="127000" dist="50800" dir="2700000" algn="tl" rotWithShape="0">
              <a:srgbClr val="000000">
                <a:alpha val="20000"/>
              </a:srgbClr>
            </a:outerShdw>
          </a:effectLst>
        </p:spPr>
        <p:txBody>
          <a:bodyPr vert="horz" wrap="square" lIns="63500" tIns="63500" rIns="63500" bIns="63500" rtlCol="0" anchor="ctr"/>
          <a:lstStyle/>
          <a:p>
            <a:pPr algn="ctr">
              <a:defRPr/>
            </a:pPr>
            <a:endParaRPr sz="1600"/>
          </a:p>
        </p:txBody>
      </p:sp>
      <p:sp>
        <p:nvSpPr>
          <p:cNvPr id="25" name="AutoShape 25"/>
          <p:cNvSpPr/>
          <p:nvPr/>
        </p:nvSpPr>
        <p:spPr>
          <a:xfrm>
            <a:off x="4008120" y="3020060"/>
            <a:ext cx="5676900" cy="1415415"/>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FD700"/>
                </a:solidFill>
                <a:latin typeface="Poppins"/>
                <a:ea typeface="Poppins"/>
                <a:cs typeface="Poppins"/>
                <a:sym typeface="Poppins"/>
              </a:rPr>
              <a:t>Protein Density</a:t>
            </a:r>
            <a:endParaRPr lang="en-US" sz="1200"/>
          </a:p>
          <a:p>
            <a:pPr indent="0" algn="l">
              <a:lnSpc>
                <a:spcPct val="92000"/>
              </a:lnSpc>
            </a:pPr>
            <a:r>
              <a:rPr lang="en-US" b="0" i="0" u="none" strike="noStrike">
                <a:solidFill>
                  <a:srgbClr val="F0F8FF"/>
                </a:solidFill>
                <a:latin typeface="Noto Sans SC"/>
                <a:ea typeface="Noto Sans SC"/>
                <a:cs typeface="Noto Sans SC"/>
                <a:sym typeface="Noto Sans SC"/>
              </a:rPr>
              <a:t>A novel metric (protein/calories) to rank combos by nutritional efficiency, highlighting the most value-dense meals.</a:t>
            </a:r>
            <a:endParaRPr lang="en-US" b="0" i="0" u="none" strike="noStrike">
              <a:solidFill>
                <a:srgbClr val="F0F8FF"/>
              </a:solidFill>
              <a:latin typeface="Noto Sans SC"/>
              <a:ea typeface="Noto Sans SC"/>
              <a:cs typeface="Noto Sans SC"/>
              <a:sym typeface="Noto Sans SC"/>
            </a:endParaRPr>
          </a:p>
        </p:txBody>
      </p:sp>
      <p:sp>
        <p:nvSpPr>
          <p:cNvPr id="26" name="AutoShape 26"/>
          <p:cNvSpPr/>
          <p:nvPr/>
        </p:nvSpPr>
        <p:spPr>
          <a:xfrm>
            <a:off x="3881120" y="4600575"/>
            <a:ext cx="5983605" cy="1592580"/>
          </a:xfrm>
          <a:prstGeom prst="roundRect">
            <a:avLst>
              <a:gd name="adj" fmla="val 11111"/>
            </a:avLst>
          </a:prstGeom>
          <a:solidFill>
            <a:schemeClr val="accent1">
              <a:lumMod val="50000"/>
              <a:alpha val="90000"/>
            </a:schemeClr>
          </a:solidFill>
          <a:ln w="25400" cap="flat" cmpd="sng">
            <a:noFill/>
            <a:prstDash val="solid"/>
            <a:round/>
          </a:ln>
          <a:effectLst>
            <a:outerShdw blurRad="127000" dist="50800" dir="2700000" algn="tl" rotWithShape="0">
              <a:srgbClr val="000000">
                <a:alpha val="20000"/>
              </a:srgbClr>
            </a:outerShdw>
          </a:effectLst>
        </p:spPr>
        <p:txBody>
          <a:bodyPr vert="horz" wrap="square" lIns="63500" tIns="63500" rIns="63500" bIns="63500" rtlCol="0" anchor="ctr"/>
          <a:lstStyle/>
          <a:p>
            <a:pPr algn="ctr">
              <a:defRPr/>
            </a:pPr>
            <a:endParaRPr sz="1600"/>
          </a:p>
        </p:txBody>
      </p:sp>
      <p:sp>
        <p:nvSpPr>
          <p:cNvPr id="27" name="AutoShape 27"/>
          <p:cNvSpPr/>
          <p:nvPr/>
        </p:nvSpPr>
        <p:spPr>
          <a:xfrm>
            <a:off x="4008120" y="4648200"/>
            <a:ext cx="5676900" cy="1415415"/>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FD700"/>
                </a:solidFill>
                <a:latin typeface="Poppins"/>
                <a:ea typeface="Poppins"/>
                <a:cs typeface="Poppins"/>
                <a:sym typeface="Poppins"/>
              </a:rPr>
              <a:t>Category Summary</a:t>
            </a:r>
            <a:endParaRPr lang="en-US" sz="1200"/>
          </a:p>
          <a:p>
            <a:pPr indent="0" algn="l">
              <a:lnSpc>
                <a:spcPct val="92000"/>
              </a:lnSpc>
            </a:pPr>
            <a:r>
              <a:rPr lang="en-US" b="0" i="0" u="none" strike="noStrike">
                <a:solidFill>
                  <a:srgbClr val="F0F8FF"/>
                </a:solidFill>
                <a:latin typeface="Noto Sans SC"/>
                <a:ea typeface="Noto Sans SC"/>
                <a:cs typeface="Noto Sans SC"/>
                <a:sym typeface="Noto Sans SC"/>
              </a:rPr>
              <a:t>Aggregates detailed nutritional data by food category (e.g., Burgers, Salads), providing macro-level insights for menu analysis.</a:t>
            </a:r>
            <a:endParaRPr lang="en-US" b="0" i="0" u="none" strike="noStrike">
              <a:solidFill>
                <a:srgbClr val="F0F8FF"/>
              </a:solidFill>
              <a:latin typeface="Noto Sans SC"/>
              <a:ea typeface="Noto Sans SC"/>
              <a:cs typeface="Noto Sans SC"/>
              <a:sym typeface="Noto Sans SC"/>
            </a:endParaRPr>
          </a:p>
        </p:txBody>
      </p:sp>
      <p:sp>
        <p:nvSpPr>
          <p:cNvPr id="28" name="AutoShape 28"/>
          <p:cNvSpPr/>
          <p:nvPr/>
        </p:nvSpPr>
        <p:spPr>
          <a:xfrm>
            <a:off x="3888105" y="6236970"/>
            <a:ext cx="5983605" cy="1592580"/>
          </a:xfrm>
          <a:prstGeom prst="roundRect">
            <a:avLst>
              <a:gd name="adj" fmla="val 11111"/>
            </a:avLst>
          </a:prstGeom>
          <a:solidFill>
            <a:schemeClr val="accent1">
              <a:lumMod val="50000"/>
              <a:alpha val="90000"/>
            </a:schemeClr>
          </a:solidFill>
          <a:ln w="25400" cap="flat" cmpd="sng">
            <a:noFill/>
            <a:prstDash val="solid"/>
            <a:round/>
          </a:ln>
          <a:effectLst>
            <a:outerShdw blurRad="127000" dist="50800" dir="2700000" algn="tl" rotWithShape="0">
              <a:srgbClr val="000000">
                <a:alpha val="20000"/>
              </a:srgbClr>
            </a:outerShdw>
          </a:effectLst>
        </p:spPr>
        <p:txBody>
          <a:bodyPr vert="horz" wrap="square" lIns="63500" tIns="63500" rIns="63500" bIns="63500" rtlCol="0" anchor="ctr"/>
          <a:lstStyle/>
          <a:p>
            <a:pPr algn="ctr">
              <a:defRPr/>
            </a:pPr>
            <a:endParaRPr sz="1600"/>
          </a:p>
        </p:txBody>
      </p:sp>
      <p:sp>
        <p:nvSpPr>
          <p:cNvPr id="29" name="AutoShape 29"/>
          <p:cNvSpPr/>
          <p:nvPr/>
        </p:nvSpPr>
        <p:spPr>
          <a:xfrm>
            <a:off x="4015105" y="6284595"/>
            <a:ext cx="5676900" cy="1415415"/>
          </a:xfrm>
          <a:prstGeom prst="rect">
            <a:avLst/>
          </a:prstGeom>
          <a:noFill/>
          <a:ln w="1905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FD700"/>
                </a:solidFill>
                <a:latin typeface="Poppins"/>
                <a:ea typeface="Poppins"/>
                <a:cs typeface="Poppins"/>
                <a:sym typeface="Poppins"/>
              </a:rPr>
              <a:t>Healthy Search</a:t>
            </a:r>
            <a:endParaRPr lang="en-US" sz="1200"/>
          </a:p>
          <a:p>
            <a:pPr indent="0" algn="l">
              <a:lnSpc>
                <a:spcPct val="92000"/>
              </a:lnSpc>
            </a:pPr>
            <a:r>
              <a:rPr lang="en-US" b="0" i="0" u="none" strike="noStrike">
                <a:solidFill>
                  <a:srgbClr val="F0F8FF"/>
                </a:solidFill>
                <a:latin typeface="Noto Sans SC"/>
                <a:ea typeface="Noto Sans SC"/>
                <a:cs typeface="Noto Sans SC"/>
                <a:sym typeface="Noto Sans SC"/>
              </a:rPr>
              <a:t>Advanced filtering allowing users to query menu items by specific nutritional criteria (e.g., max_calories, min_protein).</a:t>
            </a:r>
            <a:endParaRPr lang="en-US" b="0" i="0" u="none" strike="noStrike">
              <a:solidFill>
                <a:srgbClr val="F0F8FF"/>
              </a:solidFill>
              <a:latin typeface="Noto Sans SC"/>
              <a:ea typeface="Noto Sans SC"/>
              <a:cs typeface="Noto Sans SC"/>
              <a:sym typeface="Noto Sans SC"/>
            </a:endParaRPr>
          </a:p>
        </p:txBody>
      </p:sp>
      <p:sp>
        <p:nvSpPr>
          <p:cNvPr id="30" name="AutoShape 30"/>
          <p:cNvSpPr/>
          <p:nvPr/>
        </p:nvSpPr>
        <p:spPr>
          <a:xfrm>
            <a:off x="10235565" y="4448810"/>
            <a:ext cx="5461000" cy="2336165"/>
          </a:xfrm>
          <a:prstGeom prst="roundRect">
            <a:avLst>
              <a:gd name="adj" fmla="val 4761"/>
            </a:avLst>
          </a:prstGeom>
          <a:solidFill>
            <a:srgbClr val="1E232D">
              <a:alpha val="95000"/>
            </a:srgbClr>
          </a:solidFill>
          <a:ln w="25400" cap="flat" cmpd="sng">
            <a:solidFill>
              <a:srgbClr val="FFD700">
                <a:alpha val="60000"/>
              </a:srgbClr>
            </a:solidFill>
            <a:prstDash val="solid"/>
            <a:round/>
          </a:ln>
          <a:effectLst>
            <a:outerShdw blurRad="190500" dist="76200" dir="2700000" algn="tl" rotWithShape="0">
              <a:srgbClr val="000000">
                <a:alpha val="30000"/>
              </a:srgbClr>
            </a:outerShdw>
          </a:effectLst>
        </p:spPr>
        <p:txBody>
          <a:bodyPr vert="horz" wrap="square" lIns="63500" tIns="63500" rIns="63500" bIns="63500" rtlCol="0" anchor="ctr"/>
          <a:lstStyle/>
          <a:p>
            <a:pPr algn="ctr">
              <a:defRPr/>
            </a:pPr>
          </a:p>
        </p:txBody>
      </p:sp>
      <p:sp>
        <p:nvSpPr>
          <p:cNvPr id="31" name="AutoShape 31"/>
          <p:cNvSpPr/>
          <p:nvPr/>
        </p:nvSpPr>
        <p:spPr>
          <a:xfrm>
            <a:off x="10235565" y="3649980"/>
            <a:ext cx="5207000" cy="381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D700"/>
                </a:solidFill>
                <a:latin typeface="Poppins"/>
                <a:ea typeface="Poppins"/>
                <a:cs typeface="Poppins"/>
                <a:sym typeface="Poppins"/>
              </a:rPr>
              <a:t>Example: Combo Scoreboard Response</a:t>
            </a:r>
            <a:endParaRPr lang="en-US" sz="2400" b="1" i="0" u="none" strike="noStrike">
              <a:solidFill>
                <a:srgbClr val="FFD700"/>
              </a:solidFill>
              <a:latin typeface="Poppins"/>
              <a:ea typeface="Poppins"/>
              <a:cs typeface="Poppins"/>
              <a:sym typeface="Poppins"/>
            </a:endParaRPr>
          </a:p>
        </p:txBody>
      </p:sp>
      <p:sp>
        <p:nvSpPr>
          <p:cNvPr id="32" name="AutoShape 32"/>
          <p:cNvSpPr/>
          <p:nvPr/>
        </p:nvSpPr>
        <p:spPr>
          <a:xfrm>
            <a:off x="10362565" y="4752975"/>
            <a:ext cx="5207000" cy="1905000"/>
          </a:xfrm>
          <a:prstGeom prst="rect">
            <a:avLst/>
          </a:prstGeom>
          <a:noFill/>
          <a:ln w="19050" cap="flat" cmpd="sng">
            <a:noFill/>
            <a:prstDash val="solid"/>
            <a:round/>
          </a:ln>
        </p:spPr>
        <p:txBody>
          <a:bodyPr vert="horz" wrap="square" lIns="0" tIns="0" rIns="0" bIns="0" rtlCol="0" anchor="t" anchorCtr="0"/>
          <a:lstStyle/>
          <a:p>
            <a:pPr indent="0" algn="l">
              <a:lnSpc>
                <a:spcPct val="108000"/>
              </a:lnSpc>
              <a:defRPr/>
            </a:pPr>
            <a:r>
              <a:rPr lang="en-US" sz="1800" b="0" i="0" u="none" strike="noStrike">
                <a:solidFill>
                  <a:srgbClr val="C8C8C8"/>
                </a:solidFill>
                <a:latin typeface="Consolas"/>
                <a:ea typeface="Consolas"/>
                <a:cs typeface="Consolas"/>
                <a:sym typeface="Consolas"/>
              </a:rPr>
              <a:t>[</a:t>
            </a:r>
            <a:endParaRPr lang="en-US" sz="1800"/>
          </a:p>
          <a:p>
            <a:pPr indent="0" algn="l">
              <a:lnSpc>
                <a:spcPct val="108000"/>
              </a:lnSpc>
            </a:pPr>
            <a:r>
              <a:rPr lang="en-US" sz="1800" b="0" i="0" u="none" strike="noStrike">
                <a:solidFill>
                  <a:srgbClr val="C8C8C8"/>
                </a:solidFill>
                <a:latin typeface="Consolas"/>
                <a:ea typeface="Consolas"/>
                <a:cs typeface="Consolas"/>
                <a:sym typeface="Consolas"/>
              </a:rPr>
              <a:t>{ "combo_id": 50,</a:t>
            </a:r>
            <a:endParaRPr lang="en-US" sz="1800" b="0" i="0" u="none" strike="noStrike">
              <a:solidFill>
                <a:srgbClr val="C8C8C8"/>
              </a:solidFill>
              <a:latin typeface="Consolas"/>
              <a:ea typeface="Consolas"/>
              <a:cs typeface="Consolas"/>
              <a:sym typeface="Consolas"/>
            </a:endParaRPr>
          </a:p>
          <a:p>
            <a:pPr indent="0" algn="l">
              <a:lnSpc>
                <a:spcPct val="108000"/>
              </a:lnSpc>
            </a:pPr>
            <a:r>
              <a:rPr lang="en-US" sz="1800" b="0" i="0" u="none" strike="noStrike">
                <a:solidFill>
                  <a:srgbClr val="C8C8C8"/>
                </a:solidFill>
                <a:latin typeface="Consolas"/>
                <a:ea typeface="Consolas"/>
                <a:cs typeface="Consolas"/>
                <a:sym typeface="Consolas"/>
              </a:rPr>
              <a:t>"name": "High Protein Builder",</a:t>
            </a:r>
            <a:endParaRPr lang="en-US" sz="1800" b="0" i="0" u="none" strike="noStrike">
              <a:solidFill>
                <a:srgbClr val="C8C8C8"/>
              </a:solidFill>
              <a:latin typeface="Consolas"/>
              <a:ea typeface="Consolas"/>
              <a:cs typeface="Consolas"/>
              <a:sym typeface="Consolas"/>
            </a:endParaRPr>
          </a:p>
          <a:p>
            <a:pPr indent="0" algn="l">
              <a:lnSpc>
                <a:spcPct val="108000"/>
              </a:lnSpc>
            </a:pPr>
            <a:r>
              <a:rPr lang="en-US" sz="1800" b="0" i="0" u="none" strike="noStrike">
                <a:solidFill>
                  <a:srgbClr val="C8C8C8"/>
                </a:solidFill>
                <a:latin typeface="Consolas"/>
                <a:ea typeface="Consolas"/>
                <a:cs typeface="Consolas"/>
                <a:sym typeface="Consolas"/>
              </a:rPr>
              <a:t>"protein_density": 0.144, "rank": 1 }</a:t>
            </a:r>
            <a:endParaRPr lang="en-US" sz="1800" b="0" i="0" u="none" strike="noStrike">
              <a:solidFill>
                <a:srgbClr val="C8C8C8"/>
              </a:solidFill>
              <a:latin typeface="Consolas"/>
              <a:ea typeface="Consolas"/>
              <a:cs typeface="Consolas"/>
              <a:sym typeface="Consolas"/>
            </a:endParaRPr>
          </a:p>
          <a:p>
            <a:pPr indent="0" algn="l">
              <a:lnSpc>
                <a:spcPct val="108000"/>
              </a:lnSpc>
            </a:pPr>
            <a:r>
              <a:rPr lang="en-US" sz="1800" b="0" i="0" u="none" strike="noStrike">
                <a:solidFill>
                  <a:srgbClr val="C8C8C8"/>
                </a:solidFill>
                <a:latin typeface="Consolas"/>
                <a:ea typeface="Consolas"/>
                <a:cs typeface="Consolas"/>
                <a:sym typeface="Consolas"/>
              </a:rPr>
              <a:t>]</a:t>
            </a:r>
            <a:endParaRPr lang="en-US" sz="1800" b="0" i="0" u="none" strike="noStrike">
              <a:solidFill>
                <a:srgbClr val="C8C8C8"/>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1"/>
          <a:srcRect l="99" r="99"/>
          <a:stretch>
            <a:fillRect/>
          </a:stretch>
        </p:blipFill>
        <p:spPr>
          <a:xfrm rot="-1920000" flipV="1">
            <a:off x="13919200" y="-1943100"/>
            <a:ext cx="5105400" cy="6019800"/>
          </a:xfrm>
          <a:prstGeom prst="rect">
            <a:avLst/>
          </a:prstGeom>
          <a:noFill/>
          <a:ln w="25400" cap="flat" cmpd="sng">
            <a:noFill/>
            <a:prstDash val="solid"/>
            <a:round/>
          </a:ln>
        </p:spPr>
      </p:pic>
      <p:pic>
        <p:nvPicPr>
          <p:cNvPr id="4" name="Picture 4"/>
          <p:cNvPicPr>
            <a:picLocks noChangeAspect="1"/>
          </p:cNvPicPr>
          <p:nvPr/>
        </p:nvPicPr>
        <p:blipFill>
          <a:blip r:embed="rId2"/>
          <a:srcRect l="99" r="99"/>
          <a:stretch>
            <a:fillRect/>
          </a:stretch>
        </p:blipFill>
        <p:spPr>
          <a:xfrm rot="-4080000" flipV="1">
            <a:off x="-50800" y="-2146300"/>
            <a:ext cx="5105400" cy="6019800"/>
          </a:xfrm>
          <a:prstGeom prst="rect">
            <a:avLst/>
          </a:prstGeom>
          <a:noFill/>
          <a:ln w="25400" cap="flat" cmpd="sng">
            <a:noFill/>
            <a:prstDash val="solid"/>
            <a:round/>
          </a:ln>
        </p:spPr>
      </p:pic>
      <p:pic>
        <p:nvPicPr>
          <p:cNvPr id="5" name="Picture 5"/>
          <p:cNvPicPr>
            <a:picLocks noChangeAspect="1"/>
          </p:cNvPicPr>
          <p:nvPr/>
        </p:nvPicPr>
        <p:blipFill>
          <a:blip r:embed="rId3"/>
          <a:srcRect l="99" r="99"/>
          <a:stretch>
            <a:fillRect/>
          </a:stretch>
        </p:blipFill>
        <p:spPr>
          <a:xfrm rot="-1920000" flipV="1">
            <a:off x="13119100" y="-2819400"/>
            <a:ext cx="5105400" cy="6019800"/>
          </a:xfrm>
          <a:prstGeom prst="rect">
            <a:avLst/>
          </a:prstGeom>
          <a:noFill/>
          <a:ln w="25400" cap="flat" cmpd="sng">
            <a:noFill/>
            <a:prstDash val="solid"/>
            <a:round/>
          </a:ln>
        </p:spPr>
      </p:pic>
      <p:pic>
        <p:nvPicPr>
          <p:cNvPr id="6" name="Picture 6"/>
          <p:cNvPicPr>
            <a:picLocks noChangeAspect="1"/>
          </p:cNvPicPr>
          <p:nvPr/>
        </p:nvPicPr>
        <p:blipFill>
          <a:blip r:embed="rId4"/>
          <a:srcRect l="99" r="99"/>
          <a:stretch>
            <a:fillRect/>
          </a:stretch>
        </p:blipFill>
        <p:spPr>
          <a:xfrm rot="-4080000" flipV="1">
            <a:off x="-1231900" y="-2387600"/>
            <a:ext cx="5105400" cy="6019800"/>
          </a:xfrm>
          <a:prstGeom prst="rect">
            <a:avLst/>
          </a:prstGeom>
          <a:noFill/>
          <a:ln w="25400" cap="flat" cmpd="sng">
            <a:noFill/>
            <a:prstDash val="solid"/>
            <a:round/>
          </a:ln>
        </p:spPr>
      </p:pic>
      <p:sp>
        <p:nvSpPr>
          <p:cNvPr id="7" name="Freeform 7"/>
          <p:cNvSpPr/>
          <p:nvPr/>
        </p:nvSpPr>
        <p:spPr>
          <a:xfrm rot="8880000">
            <a:off x="14897100" y="10668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6720000">
            <a:off x="1308100" y="16383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rot="8880000">
            <a:off x="15430500" y="13081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rot="6720000">
            <a:off x="1955800" y="13589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524000" y="1502410"/>
            <a:ext cx="15240000" cy="1016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5600" b="1" i="0" u="none" strike="noStrike">
                <a:solidFill>
                  <a:srgbClr val="305BA4"/>
                </a:solidFill>
                <a:latin typeface="Fredoka"/>
                <a:ea typeface="Fredoka"/>
                <a:cs typeface="Fredoka"/>
                <a:sym typeface="Fredoka"/>
              </a:rPr>
              <a:t>VALIDATION &amp; ERROR HANDLING</a:t>
            </a:r>
            <a:endParaRPr lang="en-US" sz="1100"/>
          </a:p>
        </p:txBody>
      </p:sp>
      <p:sp>
        <p:nvSpPr>
          <p:cNvPr id="24" name="AutoShape 24"/>
          <p:cNvSpPr/>
          <p:nvPr/>
        </p:nvSpPr>
        <p:spPr>
          <a:xfrm>
            <a:off x="1211580" y="4173855"/>
            <a:ext cx="3150235" cy="1950720"/>
          </a:xfrm>
          <a:prstGeom prst="roundRect">
            <a:avLst>
              <a:gd name="adj" fmla="val 7692"/>
            </a:avLst>
          </a:prstGeom>
          <a:solidFill>
            <a:srgbClr val="FFFFFF">
              <a:alpha val="100000"/>
            </a:srgbClr>
          </a:solidFill>
          <a:ln w="25400" cap="flat" cmpd="sng">
            <a:noFill/>
            <a:prstDash val="solid"/>
            <a:round/>
          </a:ln>
          <a:effectLst>
            <a:outerShdw blurRad="101600" dist="38100" dir="2700000" algn="tl" rotWithShape="0">
              <a:srgbClr val="000000">
                <a:alpha val="10000"/>
              </a:srgbClr>
            </a:outerShdw>
          </a:effectLst>
        </p:spPr>
        <p:txBody>
          <a:bodyPr vert="horz" wrap="square" lIns="63500" tIns="63500" rIns="63500" bIns="63500" rtlCol="0" anchor="ctr"/>
          <a:lstStyle/>
          <a:p>
            <a:pPr algn="ctr">
              <a:defRPr/>
            </a:pPr>
            <a:endParaRPr sz="1800"/>
          </a:p>
        </p:txBody>
      </p:sp>
      <p:sp>
        <p:nvSpPr>
          <p:cNvPr id="25" name="AutoShape 25"/>
          <p:cNvSpPr/>
          <p:nvPr/>
        </p:nvSpPr>
        <p:spPr>
          <a:xfrm>
            <a:off x="1465580" y="4635500"/>
            <a:ext cx="2577465" cy="600075"/>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EF4444"/>
                </a:solidFill>
                <a:latin typeface="Poppins"/>
                <a:ea typeface="Poppins"/>
                <a:cs typeface="Poppins"/>
                <a:sym typeface="Poppins"/>
              </a:rPr>
              <a:t>401</a:t>
            </a:r>
            <a:r>
              <a:rPr lang="en-US" sz="2000" b="1" i="0" u="none" strike="noStrike">
                <a:solidFill>
                  <a:srgbClr val="374151"/>
                </a:solidFill>
                <a:latin typeface="Noto Sans SC"/>
                <a:ea typeface="Noto Sans SC"/>
                <a:cs typeface="Noto Sans SC"/>
                <a:sym typeface="Noto Sans SC"/>
              </a:rPr>
              <a:t>Unauthorized</a:t>
            </a:r>
            <a:endParaRPr lang="en-US" sz="2000" b="1" i="0" u="none" strike="noStrike">
              <a:solidFill>
                <a:srgbClr val="374151"/>
              </a:solidFill>
              <a:latin typeface="Noto Sans SC"/>
              <a:ea typeface="Noto Sans SC"/>
              <a:cs typeface="Noto Sans SC"/>
              <a:sym typeface="Noto Sans SC"/>
            </a:endParaRPr>
          </a:p>
        </p:txBody>
      </p:sp>
      <p:sp>
        <p:nvSpPr>
          <p:cNvPr id="26" name="AutoShape 26"/>
          <p:cNvSpPr/>
          <p:nvPr/>
        </p:nvSpPr>
        <p:spPr>
          <a:xfrm>
            <a:off x="1465580" y="5169535"/>
            <a:ext cx="2577465" cy="600075"/>
          </a:xfrm>
          <a:prstGeom prst="rect">
            <a:avLst/>
          </a:prstGeom>
          <a:noFill/>
          <a:ln w="1905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6B7280"/>
                </a:solidFill>
                <a:latin typeface="Noto Sans SC"/>
                <a:ea typeface="Noto Sans SC"/>
                <a:cs typeface="Noto Sans SC"/>
                <a:sym typeface="Noto Sans SC"/>
              </a:rPr>
              <a:t>Request lacks valid authentication token or credentials.</a:t>
            </a:r>
            <a:endParaRPr lang="en-US" sz="1600" b="0" i="0" u="none" strike="noStrike">
              <a:solidFill>
                <a:srgbClr val="6B7280"/>
              </a:solidFill>
              <a:latin typeface="Noto Sans SC"/>
              <a:ea typeface="Noto Sans SC"/>
              <a:cs typeface="Noto Sans SC"/>
              <a:sym typeface="Noto Sans SC"/>
            </a:endParaRPr>
          </a:p>
        </p:txBody>
      </p:sp>
      <p:sp>
        <p:nvSpPr>
          <p:cNvPr id="27" name="AutoShape 27"/>
          <p:cNvSpPr/>
          <p:nvPr/>
        </p:nvSpPr>
        <p:spPr>
          <a:xfrm>
            <a:off x="4825365" y="4173855"/>
            <a:ext cx="3150235" cy="1950720"/>
          </a:xfrm>
          <a:prstGeom prst="roundRect">
            <a:avLst>
              <a:gd name="adj" fmla="val 7692"/>
            </a:avLst>
          </a:prstGeom>
          <a:solidFill>
            <a:srgbClr val="FFFFFF">
              <a:alpha val="100000"/>
            </a:srgbClr>
          </a:solidFill>
          <a:ln w="25400" cap="flat" cmpd="sng">
            <a:noFill/>
            <a:prstDash val="solid"/>
            <a:round/>
          </a:ln>
          <a:effectLst>
            <a:outerShdw blurRad="101600" dist="38100" dir="2700000" algn="tl" rotWithShape="0">
              <a:srgbClr val="000000">
                <a:alpha val="10000"/>
              </a:srgbClr>
            </a:outerShdw>
          </a:effectLst>
        </p:spPr>
        <p:txBody>
          <a:bodyPr vert="horz" wrap="square" lIns="63500" tIns="63500" rIns="63500" bIns="63500" rtlCol="0" anchor="ctr"/>
          <a:lstStyle/>
          <a:p>
            <a:pPr algn="ctr">
              <a:defRPr/>
            </a:pPr>
            <a:endParaRPr sz="1800"/>
          </a:p>
        </p:txBody>
      </p:sp>
      <p:sp>
        <p:nvSpPr>
          <p:cNvPr id="28" name="AutoShape 28"/>
          <p:cNvSpPr/>
          <p:nvPr/>
        </p:nvSpPr>
        <p:spPr>
          <a:xfrm>
            <a:off x="5079365" y="4381500"/>
            <a:ext cx="2577465" cy="600075"/>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F59E0B"/>
                </a:solidFill>
                <a:latin typeface="Poppins"/>
                <a:ea typeface="Poppins"/>
                <a:cs typeface="Poppins"/>
                <a:sym typeface="Poppins"/>
              </a:rPr>
              <a:t>404</a:t>
            </a:r>
            <a:r>
              <a:rPr lang="en-US" sz="2000" b="1" i="0" u="none" strike="noStrike">
                <a:solidFill>
                  <a:srgbClr val="374151"/>
                </a:solidFill>
                <a:latin typeface="Noto Sans SC"/>
                <a:ea typeface="Noto Sans SC"/>
                <a:cs typeface="Noto Sans SC"/>
                <a:sym typeface="Noto Sans SC"/>
              </a:rPr>
              <a:t>Not Found</a:t>
            </a:r>
            <a:endParaRPr lang="en-US" sz="2000" b="1" i="0" u="none" strike="noStrike">
              <a:solidFill>
                <a:srgbClr val="374151"/>
              </a:solidFill>
              <a:latin typeface="Noto Sans SC"/>
              <a:ea typeface="Noto Sans SC"/>
              <a:cs typeface="Noto Sans SC"/>
              <a:sym typeface="Noto Sans SC"/>
            </a:endParaRPr>
          </a:p>
        </p:txBody>
      </p:sp>
      <p:sp>
        <p:nvSpPr>
          <p:cNvPr id="29" name="AutoShape 29"/>
          <p:cNvSpPr/>
          <p:nvPr/>
        </p:nvSpPr>
        <p:spPr>
          <a:xfrm>
            <a:off x="5079365" y="5080000"/>
            <a:ext cx="2577465" cy="600075"/>
          </a:xfrm>
          <a:prstGeom prst="rect">
            <a:avLst/>
          </a:prstGeom>
          <a:noFill/>
          <a:ln w="1905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6B7280"/>
                </a:solidFill>
                <a:latin typeface="Noto Sans SC"/>
                <a:ea typeface="Noto Sans SC"/>
                <a:cs typeface="Noto Sans SC"/>
                <a:sym typeface="Noto Sans SC"/>
              </a:rPr>
              <a:t>The requested resource does not exist on the server.</a:t>
            </a:r>
            <a:endParaRPr lang="en-US" sz="1600" b="0" i="0" u="none" strike="noStrike">
              <a:solidFill>
                <a:srgbClr val="6B7280"/>
              </a:solidFill>
              <a:latin typeface="Noto Sans SC"/>
              <a:ea typeface="Noto Sans SC"/>
              <a:cs typeface="Noto Sans SC"/>
              <a:sym typeface="Noto Sans SC"/>
            </a:endParaRPr>
          </a:p>
        </p:txBody>
      </p:sp>
      <p:sp>
        <p:nvSpPr>
          <p:cNvPr id="30" name="AutoShape 30"/>
          <p:cNvSpPr/>
          <p:nvPr/>
        </p:nvSpPr>
        <p:spPr>
          <a:xfrm>
            <a:off x="1211580" y="6699250"/>
            <a:ext cx="3150235" cy="1950720"/>
          </a:xfrm>
          <a:prstGeom prst="roundRect">
            <a:avLst>
              <a:gd name="adj" fmla="val 7692"/>
            </a:avLst>
          </a:prstGeom>
          <a:solidFill>
            <a:srgbClr val="FFFFFF">
              <a:alpha val="100000"/>
            </a:srgbClr>
          </a:solidFill>
          <a:ln w="25400" cap="flat" cmpd="sng">
            <a:noFill/>
            <a:prstDash val="solid"/>
            <a:round/>
          </a:ln>
          <a:effectLst>
            <a:outerShdw blurRad="101600" dist="38100" dir="2700000" algn="tl" rotWithShape="0">
              <a:srgbClr val="000000">
                <a:alpha val="10000"/>
              </a:srgbClr>
            </a:outerShdw>
          </a:effectLst>
        </p:spPr>
        <p:txBody>
          <a:bodyPr vert="horz" wrap="square" lIns="63500" tIns="63500" rIns="63500" bIns="63500" rtlCol="0" anchor="ctr"/>
          <a:lstStyle/>
          <a:p>
            <a:pPr algn="ctr">
              <a:defRPr/>
            </a:pPr>
            <a:endParaRPr sz="1800"/>
          </a:p>
        </p:txBody>
      </p:sp>
      <p:sp>
        <p:nvSpPr>
          <p:cNvPr id="31" name="AutoShape 31"/>
          <p:cNvSpPr/>
          <p:nvPr/>
        </p:nvSpPr>
        <p:spPr>
          <a:xfrm>
            <a:off x="1465580" y="7046595"/>
            <a:ext cx="2577465" cy="600075"/>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3B82F6"/>
                </a:solidFill>
                <a:latin typeface="Poppins"/>
                <a:ea typeface="Poppins"/>
                <a:cs typeface="Poppins"/>
                <a:sym typeface="Poppins"/>
              </a:rPr>
              <a:t>500 </a:t>
            </a:r>
            <a:r>
              <a:rPr lang="en-US" sz="2000" b="1" i="0" u="none" strike="noStrike">
                <a:solidFill>
                  <a:srgbClr val="374151"/>
                </a:solidFill>
                <a:latin typeface="Noto Sans SC"/>
                <a:ea typeface="Noto Sans SC"/>
                <a:cs typeface="Noto Sans SC"/>
                <a:sym typeface="Noto Sans SC"/>
              </a:rPr>
              <a:t>exception</a:t>
            </a:r>
            <a:endParaRPr lang="en-US" sz="2000" b="1" i="0" u="none" strike="noStrike">
              <a:solidFill>
                <a:srgbClr val="374151"/>
              </a:solidFill>
              <a:latin typeface="Noto Sans SC"/>
              <a:ea typeface="Noto Sans SC"/>
              <a:cs typeface="Noto Sans SC"/>
              <a:sym typeface="Noto Sans SC"/>
            </a:endParaRPr>
          </a:p>
        </p:txBody>
      </p:sp>
      <p:sp>
        <p:nvSpPr>
          <p:cNvPr id="32" name="AutoShape 32"/>
          <p:cNvSpPr/>
          <p:nvPr/>
        </p:nvSpPr>
        <p:spPr>
          <a:xfrm>
            <a:off x="1465580" y="7745095"/>
            <a:ext cx="2577465" cy="600075"/>
          </a:xfrm>
          <a:prstGeom prst="rect">
            <a:avLst/>
          </a:prstGeom>
          <a:noFill/>
          <a:ln w="1905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6B7280"/>
                </a:solidFill>
                <a:latin typeface="Noto Sans SC"/>
                <a:ea typeface="Noto Sans SC"/>
                <a:cs typeface="Noto Sans SC"/>
                <a:sym typeface="Noto Sans SC"/>
              </a:rPr>
              <a:t>internal server exception</a:t>
            </a:r>
            <a:endParaRPr lang="en-US" sz="1600" b="0" i="0" u="none" strike="noStrike">
              <a:solidFill>
                <a:srgbClr val="6B7280"/>
              </a:solidFill>
              <a:latin typeface="Noto Sans SC"/>
              <a:ea typeface="Noto Sans SC"/>
              <a:cs typeface="Noto Sans SC"/>
              <a:sym typeface="Noto Sans SC"/>
            </a:endParaRPr>
          </a:p>
        </p:txBody>
      </p:sp>
      <p:sp>
        <p:nvSpPr>
          <p:cNvPr id="33" name="AutoShape 33"/>
          <p:cNvSpPr/>
          <p:nvPr/>
        </p:nvSpPr>
        <p:spPr>
          <a:xfrm>
            <a:off x="4825365" y="6675755"/>
            <a:ext cx="3150235" cy="1950720"/>
          </a:xfrm>
          <a:prstGeom prst="roundRect">
            <a:avLst>
              <a:gd name="adj" fmla="val 7692"/>
            </a:avLst>
          </a:prstGeom>
          <a:solidFill>
            <a:srgbClr val="FFFFFF">
              <a:alpha val="100000"/>
            </a:srgbClr>
          </a:solidFill>
          <a:ln w="25400" cap="flat" cmpd="sng">
            <a:noFill/>
            <a:prstDash val="solid"/>
            <a:round/>
          </a:ln>
          <a:effectLst>
            <a:outerShdw blurRad="101600" dist="38100" dir="2700000" algn="tl" rotWithShape="0">
              <a:srgbClr val="000000">
                <a:alpha val="10000"/>
              </a:srgbClr>
            </a:outerShdw>
          </a:effectLst>
        </p:spPr>
        <p:txBody>
          <a:bodyPr vert="horz" wrap="square" lIns="63500" tIns="63500" rIns="63500" bIns="63500" rtlCol="0" anchor="ctr"/>
          <a:lstStyle/>
          <a:p>
            <a:pPr algn="ctr">
              <a:defRPr/>
            </a:pPr>
            <a:endParaRPr sz="1800"/>
          </a:p>
        </p:txBody>
      </p:sp>
      <p:sp>
        <p:nvSpPr>
          <p:cNvPr id="34" name="AutoShape 34"/>
          <p:cNvSpPr/>
          <p:nvPr/>
        </p:nvSpPr>
        <p:spPr>
          <a:xfrm>
            <a:off x="5079365" y="6985000"/>
            <a:ext cx="2577465" cy="600075"/>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8B5CF6"/>
                </a:solidFill>
                <a:latin typeface="Poppins"/>
                <a:ea typeface="Poppins"/>
                <a:cs typeface="Poppins"/>
                <a:sym typeface="Poppins"/>
              </a:rPr>
              <a:t>409</a:t>
            </a:r>
            <a:r>
              <a:rPr lang="en-US" sz="2000" b="1" i="0" u="none" strike="noStrike">
                <a:solidFill>
                  <a:srgbClr val="374151"/>
                </a:solidFill>
                <a:latin typeface="Noto Sans SC"/>
                <a:ea typeface="Noto Sans SC"/>
                <a:cs typeface="Noto Sans SC"/>
                <a:sym typeface="Noto Sans SC"/>
              </a:rPr>
              <a:t>Conflict</a:t>
            </a:r>
            <a:endParaRPr lang="en-US" sz="2000" b="1" i="0" u="none" strike="noStrike">
              <a:solidFill>
                <a:srgbClr val="374151"/>
              </a:solidFill>
              <a:latin typeface="Noto Sans SC"/>
              <a:ea typeface="Noto Sans SC"/>
              <a:cs typeface="Noto Sans SC"/>
              <a:sym typeface="Noto Sans SC"/>
            </a:endParaRPr>
          </a:p>
        </p:txBody>
      </p:sp>
      <p:sp>
        <p:nvSpPr>
          <p:cNvPr id="35" name="AutoShape 35"/>
          <p:cNvSpPr/>
          <p:nvPr/>
        </p:nvSpPr>
        <p:spPr>
          <a:xfrm>
            <a:off x="5079365" y="7683500"/>
            <a:ext cx="2577465" cy="600075"/>
          </a:xfrm>
          <a:prstGeom prst="rect">
            <a:avLst/>
          </a:prstGeom>
          <a:noFill/>
          <a:ln w="1905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6B7280"/>
                </a:solidFill>
                <a:latin typeface="Noto Sans SC"/>
                <a:ea typeface="Noto Sans SC"/>
                <a:cs typeface="Noto Sans SC"/>
                <a:sym typeface="Noto Sans SC"/>
              </a:rPr>
              <a:t>Resource conflict (e.g., duplicate combo name already exists).</a:t>
            </a:r>
            <a:endParaRPr lang="en-US" sz="1600" b="0" i="0" u="none" strike="noStrike">
              <a:solidFill>
                <a:srgbClr val="6B7280"/>
              </a:solidFill>
              <a:latin typeface="Noto Sans SC"/>
              <a:ea typeface="Noto Sans SC"/>
              <a:cs typeface="Noto Sans SC"/>
              <a:sym typeface="Noto Sans SC"/>
            </a:endParaRPr>
          </a:p>
        </p:txBody>
      </p:sp>
      <p:pic>
        <p:nvPicPr>
          <p:cNvPr id="36" name="图片 35" descr="截屏2026-04-21 23.48.21"/>
          <p:cNvPicPr>
            <a:picLocks noChangeAspect="1"/>
          </p:cNvPicPr>
          <p:nvPr/>
        </p:nvPicPr>
        <p:blipFill>
          <a:blip r:embed="rId5"/>
          <a:stretch>
            <a:fillRect/>
          </a:stretch>
        </p:blipFill>
        <p:spPr>
          <a:xfrm>
            <a:off x="8757920" y="2995295"/>
            <a:ext cx="9023350" cy="5631180"/>
          </a:xfrm>
          <a:prstGeom prst="rect">
            <a:avLst/>
          </a:prstGeom>
        </p:spPr>
      </p:pic>
      <p:sp>
        <p:nvSpPr>
          <p:cNvPr id="38" name="AutoShape 11"/>
          <p:cNvSpPr/>
          <p:nvPr/>
        </p:nvSpPr>
        <p:spPr>
          <a:xfrm>
            <a:off x="546100" y="2876550"/>
            <a:ext cx="7795260" cy="1016000"/>
          </a:xfrm>
          <a:prstGeom prst="rect">
            <a:avLst/>
          </a:prstGeom>
          <a:noFill/>
          <a:ln w="19050" cap="flat" cmpd="sng">
            <a:noFill/>
            <a:prstDash val="solid"/>
            <a:round/>
          </a:ln>
        </p:spPr>
        <p:txBody>
          <a:bodyPr vert="horz" wrap="square" lIns="0" tIns="0" rIns="0" bIns="0" rtlCol="0" anchor="ctr" anchorCtr="0"/>
          <a:p>
            <a:pPr indent="0" algn="ctr">
              <a:lnSpc>
                <a:spcPct val="125000"/>
              </a:lnSpc>
              <a:defRPr/>
            </a:pPr>
            <a:r>
              <a:rPr lang="en-US" sz="3600" b="1" i="0" u="none" strike="noStrike">
                <a:solidFill>
                  <a:schemeClr val="tx1"/>
                </a:solidFill>
                <a:latin typeface="Fredoka"/>
                <a:ea typeface="Fredoka"/>
                <a:cs typeface="Fredoka"/>
                <a:sym typeface="Fredoka"/>
              </a:rPr>
              <a:t>HTTP Standard Codes</a:t>
            </a:r>
            <a:endParaRPr lang="en-US" sz="3600" b="1" i="0" u="none" strike="noStrike">
              <a:solidFill>
                <a:schemeClr val="tx1"/>
              </a:solidFill>
              <a:latin typeface="Fredoka"/>
              <a:ea typeface="Fredoka"/>
              <a:cs typeface="Fredoka"/>
              <a:sym typeface="Fredok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23" r="23"/>
          <a:stretch>
            <a:fillRect/>
          </a:stretch>
        </p:blipFill>
        <p:spPr>
          <a:xfrm rot="5760000">
            <a:off x="8753475" y="1370330"/>
            <a:ext cx="6620510" cy="7297420"/>
          </a:xfrm>
          <a:prstGeom prst="rect">
            <a:avLst/>
          </a:prstGeom>
          <a:noFill/>
          <a:ln w="25400" cap="flat" cmpd="sng">
            <a:noFill/>
            <a:prstDash val="solid"/>
            <a:round/>
          </a:ln>
        </p:spPr>
      </p:pic>
      <p:pic>
        <p:nvPicPr>
          <p:cNvPr id="3" name="Picture 3"/>
          <p:cNvPicPr>
            <a:picLocks noChangeAspect="1"/>
          </p:cNvPicPr>
          <p:nvPr/>
        </p:nvPicPr>
        <p:blipFill>
          <a:blip r:embed="rId2"/>
          <a:srcRect l="23" r="23"/>
          <a:stretch>
            <a:fillRect/>
          </a:stretch>
        </p:blipFill>
        <p:spPr>
          <a:xfrm rot="-5640000">
            <a:off x="8602345" y="1354455"/>
            <a:ext cx="6597650" cy="7272655"/>
          </a:xfrm>
          <a:prstGeom prst="rect">
            <a:avLst/>
          </a:prstGeom>
          <a:noFill/>
          <a:ln w="25400" cap="flat" cmpd="sng">
            <a:noFill/>
            <a:prstDash val="solid"/>
            <a:round/>
          </a:ln>
        </p:spPr>
      </p:pic>
      <p:sp>
        <p:nvSpPr>
          <p:cNvPr id="4" name="Freeform 4"/>
          <p:cNvSpPr/>
          <p:nvPr/>
        </p:nvSpPr>
        <p:spPr>
          <a:xfrm>
            <a:off x="15913100" y="53467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5951200" y="53594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1549400" y="2108200"/>
            <a:ext cx="288318" cy="288318"/>
          </a:xfrm>
          <a:custGeom>
            <a:avLst/>
            <a:gdLst/>
            <a:ahLst/>
            <a:cxnLst/>
            <a:rect l="l" t="t" r="r" b="b"/>
            <a:pathLst>
              <a:path w="288318" h="288318">
                <a:moveTo>
                  <a:pt x="144159" y="0"/>
                </a:moveTo>
                <a:cubicBezTo>
                  <a:pt x="64541" y="0"/>
                  <a:pt x="0" y="64541"/>
                  <a:pt x="0" y="144159"/>
                </a:cubicBezTo>
                <a:cubicBezTo>
                  <a:pt x="0" y="223777"/>
                  <a:pt x="64541" y="288318"/>
                  <a:pt x="144159" y="288318"/>
                </a:cubicBezTo>
                <a:cubicBezTo>
                  <a:pt x="223777" y="288318"/>
                  <a:pt x="288318" y="223777"/>
                  <a:pt x="288318" y="144159"/>
                </a:cubicBezTo>
                <a:cubicBezTo>
                  <a:pt x="288318" y="64541"/>
                  <a:pt x="223777" y="0"/>
                  <a:pt x="14415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574800" y="2120900"/>
            <a:ext cx="228600" cy="2540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1117600" y="256540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68400" y="2590800"/>
            <a:ext cx="469900" cy="4953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4986000" y="8686800"/>
            <a:ext cx="576636" cy="576636"/>
          </a:xfrm>
          <a:custGeom>
            <a:avLst/>
            <a:gdLst/>
            <a:ahLst/>
            <a:cxnLst/>
            <a:rect l="l" t="t" r="r" b="b"/>
            <a:pathLst>
              <a:path w="576636" h="576636">
                <a:moveTo>
                  <a:pt x="288318" y="0"/>
                </a:moveTo>
                <a:cubicBezTo>
                  <a:pt x="129084" y="0"/>
                  <a:pt x="0" y="129084"/>
                  <a:pt x="0" y="288318"/>
                </a:cubicBezTo>
                <a:cubicBezTo>
                  <a:pt x="0" y="447552"/>
                  <a:pt x="129084" y="576636"/>
                  <a:pt x="288318" y="576636"/>
                </a:cubicBezTo>
                <a:cubicBezTo>
                  <a:pt x="447552" y="576636"/>
                  <a:pt x="576636" y="447552"/>
                  <a:pt x="576636" y="288318"/>
                </a:cubicBezTo>
                <a:cubicBezTo>
                  <a:pt x="576636" y="129084"/>
                  <a:pt x="447552" y="0"/>
                  <a:pt x="288318"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5036800" y="8712200"/>
            <a:ext cx="469900" cy="4953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5443200" y="8229600"/>
            <a:ext cx="245421" cy="245421"/>
          </a:xfrm>
          <a:custGeom>
            <a:avLst/>
            <a:gdLst/>
            <a:ahLst/>
            <a:cxnLst/>
            <a:rect l="l" t="t" r="r" b="b"/>
            <a:pathLst>
              <a:path w="245421" h="245421">
                <a:moveTo>
                  <a:pt x="122710" y="0"/>
                </a:moveTo>
                <a:cubicBezTo>
                  <a:pt x="54939" y="0"/>
                  <a:pt x="0" y="54939"/>
                  <a:pt x="0" y="122710"/>
                </a:cubicBezTo>
                <a:cubicBezTo>
                  <a:pt x="0" y="190482"/>
                  <a:pt x="54939" y="245421"/>
                  <a:pt x="122710" y="245421"/>
                </a:cubicBezTo>
                <a:cubicBezTo>
                  <a:pt x="190482" y="245421"/>
                  <a:pt x="245421" y="190482"/>
                  <a:pt x="245421" y="122710"/>
                </a:cubicBezTo>
                <a:cubicBezTo>
                  <a:pt x="245421" y="54939"/>
                  <a:pt x="190482" y="0"/>
                  <a:pt x="122710"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5468600" y="8229600"/>
            <a:ext cx="203200" cy="215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5328900" y="43815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5405100" y="4419600"/>
            <a:ext cx="635000" cy="6731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pic>
        <p:nvPicPr>
          <p:cNvPr id="16" name="Picture 16"/>
          <p:cNvPicPr>
            <a:picLocks noChangeAspect="1"/>
          </p:cNvPicPr>
          <p:nvPr/>
        </p:nvPicPr>
        <p:blipFill>
          <a:blip r:embed="rId3"/>
          <a:srcRect t="35" b="35"/>
          <a:stretch>
            <a:fillRect/>
          </a:stretch>
        </p:blipFill>
        <p:spPr>
          <a:xfrm rot="-1439999">
            <a:off x="-1866900" y="-2565400"/>
            <a:ext cx="5791200" cy="5130800"/>
          </a:xfrm>
          <a:prstGeom prst="rect">
            <a:avLst/>
          </a:prstGeom>
          <a:noFill/>
          <a:ln w="25400" cap="flat" cmpd="sng">
            <a:noFill/>
            <a:prstDash val="solid"/>
            <a:round/>
          </a:ln>
        </p:spPr>
      </p:pic>
      <p:pic>
        <p:nvPicPr>
          <p:cNvPr id="17" name="Picture 17"/>
          <p:cNvPicPr>
            <a:picLocks noChangeAspect="1"/>
          </p:cNvPicPr>
          <p:nvPr/>
        </p:nvPicPr>
        <p:blipFill>
          <a:blip r:embed="rId4"/>
          <a:srcRect t="35" b="35"/>
          <a:stretch>
            <a:fillRect/>
          </a:stretch>
        </p:blipFill>
        <p:spPr>
          <a:xfrm rot="-2160000">
            <a:off x="-2374900" y="-2298700"/>
            <a:ext cx="5791200" cy="5130800"/>
          </a:xfrm>
          <a:prstGeom prst="rect">
            <a:avLst/>
          </a:prstGeom>
          <a:noFill/>
          <a:ln w="25400" cap="flat" cmpd="sng">
            <a:noFill/>
            <a:prstDash val="solid"/>
            <a:round/>
          </a:ln>
        </p:spPr>
      </p:pic>
      <p:pic>
        <p:nvPicPr>
          <p:cNvPr id="18" name="Picture 18"/>
          <p:cNvPicPr>
            <a:picLocks noChangeAspect="1"/>
          </p:cNvPicPr>
          <p:nvPr/>
        </p:nvPicPr>
        <p:blipFill>
          <a:blip r:embed="rId5"/>
          <a:srcRect t="13" b="13"/>
          <a:stretch>
            <a:fillRect/>
          </a:stretch>
        </p:blipFill>
        <p:spPr>
          <a:xfrm>
            <a:off x="12788900" y="6223000"/>
            <a:ext cx="8267700" cy="7607300"/>
          </a:xfrm>
          <a:prstGeom prst="rect">
            <a:avLst/>
          </a:prstGeom>
          <a:noFill/>
          <a:ln w="25400" cap="flat" cmpd="sng">
            <a:noFill/>
            <a:prstDash val="solid"/>
            <a:round/>
          </a:ln>
        </p:spPr>
      </p:pic>
      <p:pic>
        <p:nvPicPr>
          <p:cNvPr id="19" name="Picture 19"/>
          <p:cNvPicPr>
            <a:picLocks noChangeAspect="1"/>
          </p:cNvPicPr>
          <p:nvPr/>
        </p:nvPicPr>
        <p:blipFill>
          <a:blip r:embed="rId6"/>
          <a:srcRect t="13" b="13"/>
          <a:stretch>
            <a:fillRect/>
          </a:stretch>
        </p:blipFill>
        <p:spPr>
          <a:xfrm>
            <a:off x="11722100" y="6781800"/>
            <a:ext cx="8267700" cy="7607300"/>
          </a:xfrm>
          <a:prstGeom prst="rect">
            <a:avLst/>
          </a:prstGeom>
          <a:noFill/>
          <a:ln w="25400" cap="flat" cmpd="sng">
            <a:noFill/>
            <a:prstDash val="solid"/>
            <a:round/>
          </a:ln>
        </p:spPr>
      </p:pic>
      <p:sp>
        <p:nvSpPr>
          <p:cNvPr id="21" name="AutoShape 21"/>
          <p:cNvSpPr/>
          <p:nvPr/>
        </p:nvSpPr>
        <p:spPr>
          <a:xfrm>
            <a:off x="8356600" y="2565400"/>
            <a:ext cx="6602730" cy="1397000"/>
          </a:xfrm>
          <a:prstGeom prst="rect">
            <a:avLst/>
          </a:prstGeom>
          <a:noFill/>
          <a:ln w="19050" cap="flat" cmpd="sng">
            <a:noFill/>
            <a:prstDash val="solid"/>
            <a:round/>
          </a:ln>
        </p:spPr>
        <p:txBody>
          <a:bodyPr vert="horz" wrap="square" lIns="0" tIns="0" rIns="0" bIns="0" rtlCol="0" anchor="ctr" anchorCtr="0"/>
          <a:lstStyle/>
          <a:p>
            <a:pPr indent="0" algn="ctr">
              <a:lnSpc>
                <a:spcPct val="100000"/>
              </a:lnSpc>
              <a:defRPr/>
            </a:pPr>
            <a:r>
              <a:rPr lang="en-US" altLang="zh-CN" sz="3600" b="1" i="0" u="none" strike="noStrike">
                <a:solidFill>
                  <a:srgbClr val="FFFFFF"/>
                </a:solidFill>
                <a:latin typeface="Fredoka"/>
                <a:ea typeface="Fredoka"/>
                <a:cs typeface="Fredoka"/>
                <a:sym typeface="Fredoka"/>
              </a:rPr>
              <a:t>Testing &amp; Engineering Rigor</a:t>
            </a:r>
            <a:endParaRPr lang="en-US" altLang="zh-CN" sz="3600" b="1" i="0" u="none" strike="noStrike">
              <a:solidFill>
                <a:srgbClr val="FFFFFF"/>
              </a:solidFill>
              <a:latin typeface="Fredoka"/>
              <a:ea typeface="Fredoka"/>
              <a:cs typeface="Fredoka"/>
              <a:sym typeface="Fredoka"/>
            </a:endParaRPr>
          </a:p>
        </p:txBody>
      </p:sp>
      <p:sp>
        <p:nvSpPr>
          <p:cNvPr id="22" name="AutoShape 22"/>
          <p:cNvSpPr/>
          <p:nvPr/>
        </p:nvSpPr>
        <p:spPr>
          <a:xfrm>
            <a:off x="9144000" y="3962400"/>
            <a:ext cx="5511800" cy="2794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ACC15"/>
                </a:solidFill>
                <a:latin typeface="Arial Regular" panose="020B0604020202090204" charset="0"/>
                <a:ea typeface="Poppins"/>
                <a:cs typeface="Arial Regular" panose="020B0604020202090204" charset="0"/>
                <a:sym typeface="Poppins"/>
              </a:rPr>
              <a:t>CORE FRAMEWORK</a:t>
            </a:r>
            <a:br>
              <a:rPr lang="en-US" sz="1800" b="0" i="0" u="none" strike="noStrike">
                <a:solidFill>
                  <a:srgbClr val="FFFFFF"/>
                </a:solidFill>
                <a:latin typeface="Arial Regular" panose="020B0604020202090204" charset="0"/>
                <a:ea typeface="Poppins"/>
                <a:cs typeface="Arial Regular" panose="020B0604020202090204" charset="0"/>
                <a:sym typeface="Poppins"/>
              </a:rPr>
            </a:br>
            <a:r>
              <a:rPr lang="en-US" sz="1800" b="0" i="0" u="none" strike="noStrike">
                <a:solidFill>
                  <a:srgbClr val="FFFFFF"/>
                </a:solidFill>
                <a:latin typeface="Arial Regular" panose="020B0604020202090204" charset="0"/>
                <a:ea typeface="Poppins"/>
                <a:cs typeface="Arial Regular" panose="020B0604020202090204" charset="0"/>
                <a:sym typeface="Poppins"/>
              </a:rPr>
              <a:t>Utilizing </a:t>
            </a:r>
            <a:r>
              <a:rPr lang="en-US" sz="1800" b="1" i="0" u="none" strike="noStrike">
                <a:solidFill>
                  <a:srgbClr val="FFFFFF"/>
                </a:solidFill>
                <a:latin typeface="Arial Regular" panose="020B0604020202090204" charset="0"/>
                <a:ea typeface="Poppins"/>
                <a:cs typeface="Arial Regular" panose="020B0604020202090204" charset="0"/>
                <a:sym typeface="Poppins"/>
              </a:rPr>
              <a:t>Pytest </a:t>
            </a:r>
            <a:r>
              <a:rPr lang="en-US" sz="1800" b="0" i="0" u="none" strike="noStrike">
                <a:solidFill>
                  <a:srgbClr val="FFFFFF"/>
                </a:solidFill>
                <a:latin typeface="Arial Regular" panose="020B0604020202090204" charset="0"/>
                <a:ea typeface="Poppins"/>
                <a:cs typeface="Arial Regular" panose="020B0604020202090204" charset="0"/>
                <a:sym typeface="Poppins"/>
              </a:rPr>
              <a:t>for a scalable and maintainable test suite.</a:t>
            </a:r>
            <a:endParaRPr lang="en-US" sz="1600">
              <a:latin typeface="Arial Regular" panose="020B0604020202090204" charset="0"/>
              <a:cs typeface="Arial Regular" panose="020B0604020202090204" charset="0"/>
            </a:endParaRPr>
          </a:p>
          <a:p>
            <a:pPr indent="0" algn="l">
              <a:lnSpc>
                <a:spcPct val="125000"/>
              </a:lnSpc>
            </a:pPr>
            <a:r>
              <a:rPr lang="en-US" sz="1800" b="1" i="0" u="none" strike="noStrike">
                <a:solidFill>
                  <a:srgbClr val="FACC15"/>
                </a:solidFill>
                <a:latin typeface="Arial Regular" panose="020B0604020202090204" charset="0"/>
                <a:ea typeface="Poppins"/>
                <a:cs typeface="Arial Regular" panose="020B0604020202090204" charset="0"/>
                <a:sym typeface="Poppins"/>
              </a:rPr>
              <a:t>TEST COVERAGE</a:t>
            </a:r>
            <a:br>
              <a:rPr lang="en-US" sz="1800" b="0" i="0" u="none" strike="noStrike">
                <a:solidFill>
                  <a:srgbClr val="FFFFFF"/>
                </a:solidFill>
                <a:latin typeface="Arial Regular" panose="020B0604020202090204" charset="0"/>
                <a:ea typeface="Poppins"/>
                <a:cs typeface="Arial Regular" panose="020B0604020202090204" charset="0"/>
                <a:sym typeface="Poppins"/>
              </a:rPr>
            </a:br>
            <a:r>
              <a:rPr lang="en-US" sz="1800" b="0" i="0" u="none" strike="noStrike">
                <a:solidFill>
                  <a:srgbClr val="FFFFFF"/>
                </a:solidFill>
                <a:latin typeface="Arial Regular" panose="020B0604020202090204" charset="0"/>
                <a:ea typeface="Poppins"/>
                <a:cs typeface="Arial Regular" panose="020B0604020202090204" charset="0"/>
                <a:sym typeface="Poppins"/>
              </a:rPr>
              <a:t>Auth flow, full CRUD lifecycle, input validation &amp; analytical endpoint calculations.</a:t>
            </a:r>
            <a:endParaRPr lang="en-US" sz="1800" b="0" i="0" u="none" strike="noStrike">
              <a:solidFill>
                <a:srgbClr val="FFFFFF"/>
              </a:solidFill>
              <a:latin typeface="Arial Regular" panose="020B0604020202090204" charset="0"/>
              <a:ea typeface="Poppins"/>
              <a:cs typeface="Arial Regular" panose="020B0604020202090204" charset="0"/>
              <a:sym typeface="Poppins"/>
            </a:endParaRPr>
          </a:p>
          <a:p>
            <a:pPr indent="0" algn="l">
              <a:lnSpc>
                <a:spcPct val="125000"/>
              </a:lnSpc>
            </a:pPr>
            <a:r>
              <a:rPr lang="en-US" sz="1800" b="1" i="0" u="none" strike="noStrike">
                <a:solidFill>
                  <a:srgbClr val="FACC15"/>
                </a:solidFill>
                <a:latin typeface="Arial Regular" panose="020B0604020202090204" charset="0"/>
                <a:ea typeface="Poppins"/>
                <a:cs typeface="Arial Regular" panose="020B0604020202090204" charset="0"/>
                <a:sym typeface="Poppins"/>
              </a:rPr>
              <a:t>VERIFICATION RESULT</a:t>
            </a:r>
            <a:br>
              <a:rPr lang="en-US" sz="1800" b="0" i="0" u="none" strike="noStrike">
                <a:solidFill>
                  <a:srgbClr val="FFFFFF"/>
                </a:solidFill>
                <a:latin typeface="Arial Regular" panose="020B0604020202090204" charset="0"/>
                <a:ea typeface="Poppins"/>
                <a:cs typeface="Arial Regular" panose="020B0604020202090204" charset="0"/>
                <a:sym typeface="Poppins"/>
              </a:rPr>
            </a:br>
            <a:r>
              <a:rPr lang="en-US" sz="1800" b="0" i="0" u="none" strike="noStrike">
                <a:solidFill>
                  <a:srgbClr val="FFFFFF"/>
                </a:solidFill>
                <a:latin typeface="Arial Regular" panose="020B0604020202090204" charset="0"/>
                <a:ea typeface="Poppins"/>
                <a:cs typeface="Arial Regular" panose="020B0604020202090204" charset="0"/>
                <a:sym typeface="Poppins"/>
              </a:rPr>
              <a:t>All tests pass successfully, ensuring the system behaves as expected with high reliability.</a:t>
            </a:r>
            <a:endParaRPr lang="en-US" sz="1800" b="0" i="0" u="none" strike="noStrike">
              <a:solidFill>
                <a:srgbClr val="FFFFFF"/>
              </a:solidFill>
              <a:latin typeface="Arial Regular" panose="020B0604020202090204" charset="0"/>
              <a:ea typeface="Poppins"/>
              <a:cs typeface="Arial Regular" panose="020B0604020202090204" charset="0"/>
              <a:sym typeface="Poppins"/>
            </a:endParaRPr>
          </a:p>
        </p:txBody>
      </p:sp>
      <p:pic>
        <p:nvPicPr>
          <p:cNvPr id="24" name="图片 9" descr="截屏2026-04-21 20.51.14"/>
          <p:cNvPicPr>
            <a:picLocks noChangeAspect="1"/>
          </p:cNvPicPr>
          <p:nvPr/>
        </p:nvPicPr>
        <p:blipFill>
          <a:blip r:embed="rId7"/>
          <a:srcRect r="53389"/>
          <a:stretch>
            <a:fillRect/>
          </a:stretch>
        </p:blipFill>
        <p:spPr>
          <a:xfrm>
            <a:off x="1694180" y="7816215"/>
            <a:ext cx="6568440" cy="1461135"/>
          </a:xfrm>
          <a:prstGeom prst="rect">
            <a:avLst/>
          </a:prstGeom>
        </p:spPr>
      </p:pic>
      <p:pic>
        <p:nvPicPr>
          <p:cNvPr id="25" name="图片 8" descr="截屏2026-04-21 20.49.12"/>
          <p:cNvPicPr>
            <a:picLocks noChangeAspect="1"/>
          </p:cNvPicPr>
          <p:nvPr/>
        </p:nvPicPr>
        <p:blipFill>
          <a:blip r:embed="rId8"/>
          <a:srcRect r="-3088" b="11767"/>
          <a:stretch>
            <a:fillRect/>
          </a:stretch>
        </p:blipFill>
        <p:spPr>
          <a:xfrm>
            <a:off x="2129790" y="4381500"/>
            <a:ext cx="5094629" cy="2880000"/>
          </a:xfrm>
          <a:prstGeom prst="rect">
            <a:avLst/>
          </a:prstGeom>
        </p:spPr>
      </p:pic>
      <p:pic>
        <p:nvPicPr>
          <p:cNvPr id="26" name="图片 7" descr="截屏2026-04-21 20.47.22"/>
          <p:cNvPicPr>
            <a:picLocks noChangeAspect="1"/>
          </p:cNvPicPr>
          <p:nvPr/>
        </p:nvPicPr>
        <p:blipFill>
          <a:blip r:embed="rId9"/>
          <a:srcRect r="47749" b="-4664"/>
          <a:stretch>
            <a:fillRect/>
          </a:stretch>
        </p:blipFill>
        <p:spPr>
          <a:xfrm>
            <a:off x="2129473" y="1446213"/>
            <a:ext cx="5003021" cy="288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35" b="135"/>
          <a:stretch>
            <a:fillRect/>
          </a:stretch>
        </p:blipFill>
        <p:spPr>
          <a:xfrm>
            <a:off x="1054100" y="847090"/>
            <a:ext cx="16179800" cy="6626225"/>
          </a:xfrm>
          <a:prstGeom prst="rect">
            <a:avLst/>
          </a:prstGeom>
          <a:noFill/>
          <a:ln w="25400" cap="flat" cmpd="sng">
            <a:noFill/>
            <a:prstDash val="solid"/>
            <a:round/>
          </a:ln>
        </p:spPr>
      </p:pic>
      <p:pic>
        <p:nvPicPr>
          <p:cNvPr id="3" name="Picture 3"/>
          <p:cNvPicPr>
            <a:picLocks noChangeAspect="1"/>
          </p:cNvPicPr>
          <p:nvPr/>
        </p:nvPicPr>
        <p:blipFill>
          <a:blip r:embed="rId2"/>
          <a:srcRect l="99" r="99"/>
          <a:stretch>
            <a:fillRect/>
          </a:stretch>
        </p:blipFill>
        <p:spPr>
          <a:xfrm rot="10800000" flipV="1">
            <a:off x="-774700" y="5638800"/>
            <a:ext cx="5105400" cy="6019800"/>
          </a:xfrm>
          <a:prstGeom prst="rect">
            <a:avLst/>
          </a:prstGeom>
          <a:noFill/>
          <a:ln w="25400" cap="flat" cmpd="sng">
            <a:noFill/>
            <a:prstDash val="solid"/>
            <a:round/>
          </a:ln>
        </p:spPr>
      </p:pic>
      <p:pic>
        <p:nvPicPr>
          <p:cNvPr id="4" name="Picture 4"/>
          <p:cNvPicPr>
            <a:picLocks noChangeAspect="1"/>
          </p:cNvPicPr>
          <p:nvPr/>
        </p:nvPicPr>
        <p:blipFill>
          <a:blip r:embed="rId3"/>
          <a:srcRect l="99" r="99"/>
          <a:stretch>
            <a:fillRect/>
          </a:stretch>
        </p:blipFill>
        <p:spPr>
          <a:xfrm rot="-540000" flipV="1">
            <a:off x="13855700" y="-990600"/>
            <a:ext cx="5105400" cy="6019800"/>
          </a:xfrm>
          <a:prstGeom prst="rect">
            <a:avLst/>
          </a:prstGeom>
          <a:noFill/>
          <a:ln w="25400" cap="flat" cmpd="sng">
            <a:noFill/>
            <a:prstDash val="solid"/>
            <a:round/>
          </a:ln>
        </p:spPr>
      </p:pic>
      <p:pic>
        <p:nvPicPr>
          <p:cNvPr id="5" name="Picture 5"/>
          <p:cNvPicPr>
            <a:picLocks noChangeAspect="1"/>
          </p:cNvPicPr>
          <p:nvPr/>
        </p:nvPicPr>
        <p:blipFill>
          <a:blip r:embed="rId4"/>
          <a:srcRect l="99" r="99"/>
          <a:stretch>
            <a:fillRect/>
          </a:stretch>
        </p:blipFill>
        <p:spPr>
          <a:xfrm rot="10800000" flipV="1">
            <a:off x="-546100" y="6807200"/>
            <a:ext cx="5105400" cy="6019800"/>
          </a:xfrm>
          <a:prstGeom prst="rect">
            <a:avLst/>
          </a:prstGeom>
          <a:noFill/>
          <a:ln w="25400" cap="flat" cmpd="sng">
            <a:noFill/>
            <a:prstDash val="solid"/>
            <a:round/>
          </a:ln>
        </p:spPr>
      </p:pic>
      <p:pic>
        <p:nvPicPr>
          <p:cNvPr id="6" name="Picture 6"/>
          <p:cNvPicPr>
            <a:picLocks noChangeAspect="1"/>
          </p:cNvPicPr>
          <p:nvPr/>
        </p:nvPicPr>
        <p:blipFill>
          <a:blip r:embed="rId5"/>
          <a:srcRect l="99" r="99"/>
          <a:stretch>
            <a:fillRect/>
          </a:stretch>
        </p:blipFill>
        <p:spPr>
          <a:xfrm rot="-540000" flipV="1">
            <a:off x="13462000" y="-2108200"/>
            <a:ext cx="5105400" cy="6019800"/>
          </a:xfrm>
          <a:prstGeom prst="rect">
            <a:avLst/>
          </a:prstGeom>
          <a:noFill/>
          <a:ln w="25400" cap="flat" cmpd="sng">
            <a:noFill/>
            <a:prstDash val="solid"/>
            <a:round/>
          </a:ln>
        </p:spPr>
      </p:pic>
      <p:sp>
        <p:nvSpPr>
          <p:cNvPr id="7" name="Freeform 7"/>
          <p:cNvSpPr/>
          <p:nvPr/>
        </p:nvSpPr>
        <p:spPr>
          <a:xfrm>
            <a:off x="2857500" y="764159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260000">
            <a:off x="14871700" y="8509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rot="10260000">
            <a:off x="13095605" y="409448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rot="10260000">
            <a:off x="2298700" y="160909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rot="10260000">
            <a:off x="2667000" y="2434590"/>
            <a:ext cx="1251040" cy="1251040"/>
          </a:xfrm>
          <a:custGeom>
            <a:avLst/>
            <a:gdLst/>
            <a:ahLst/>
            <a:cxnLst/>
            <a:rect l="l" t="t" r="r" b="b"/>
            <a:pathLst>
              <a:path w="1251040" h="1251040">
                <a:moveTo>
                  <a:pt x="625519" y="0"/>
                </a:moveTo>
                <a:cubicBezTo>
                  <a:pt x="280054" y="0"/>
                  <a:pt x="0" y="280054"/>
                  <a:pt x="0" y="625519"/>
                </a:cubicBezTo>
                <a:cubicBezTo>
                  <a:pt x="0" y="970986"/>
                  <a:pt x="280054" y="1251040"/>
                  <a:pt x="625519" y="1251040"/>
                </a:cubicBezTo>
                <a:cubicBezTo>
                  <a:pt x="970986" y="1251040"/>
                  <a:pt x="1251040" y="970986"/>
                  <a:pt x="1251040" y="625519"/>
                </a:cubicBezTo>
                <a:cubicBezTo>
                  <a:pt x="1251040" y="280054"/>
                  <a:pt x="970986" y="0"/>
                  <a:pt x="625519"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2273300" y="668909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rot="10260000">
            <a:off x="12054205" y="314198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3048000" y="1926590"/>
            <a:ext cx="10060305" cy="1143000"/>
          </a:xfrm>
          <a:prstGeom prst="rect">
            <a:avLst/>
          </a:prstGeom>
          <a:noFill/>
          <a:ln w="19050" cap="flat" cmpd="sng">
            <a:noFill/>
            <a:prstDash val="solid"/>
            <a:round/>
          </a:ln>
        </p:spPr>
        <p:txBody>
          <a:bodyPr vert="horz" wrap="square" lIns="0" tIns="0" rIns="0" bIns="0" rtlCol="0" anchor="ctr" anchorCtr="0"/>
          <a:lstStyle/>
          <a:p>
            <a:pPr indent="0" algn="r">
              <a:lnSpc>
                <a:spcPct val="125000"/>
              </a:lnSpc>
              <a:defRPr/>
            </a:pPr>
            <a:r>
              <a:rPr lang="en-US" sz="4800" b="1" i="0" u="none" strike="noStrike">
                <a:solidFill>
                  <a:srgbClr val="FFFFFF"/>
                </a:solidFill>
                <a:latin typeface="Fredoka"/>
                <a:ea typeface="Fredoka"/>
                <a:cs typeface="Fredoka"/>
                <a:sym typeface="Fredoka"/>
              </a:rPr>
              <a:t>Version Control &amp; Deliverables</a:t>
            </a:r>
            <a:endParaRPr lang="en-US" sz="1100"/>
          </a:p>
        </p:txBody>
      </p:sp>
      <p:sp>
        <p:nvSpPr>
          <p:cNvPr id="16" name="AutoShape 16"/>
          <p:cNvSpPr/>
          <p:nvPr/>
        </p:nvSpPr>
        <p:spPr>
          <a:xfrm>
            <a:off x="1945640" y="3103880"/>
            <a:ext cx="6371590" cy="2997200"/>
          </a:xfrm>
          <a:prstGeom prst="roundRect">
            <a:avLst>
              <a:gd name="adj" fmla="val 8571"/>
            </a:avLst>
          </a:prstGeom>
          <a:solidFill>
            <a:schemeClr val="accent1">
              <a:lumMod val="50000"/>
              <a:alpha val="95000"/>
            </a:schemeClr>
          </a:solidFill>
          <a:ln w="25400" cap="flat" cmpd="sng">
            <a:noFill/>
            <a:prstDash val="solid"/>
            <a:round/>
          </a:ln>
        </p:spPr>
        <p:txBody>
          <a:bodyPr vert="horz" wrap="square" lIns="63500" tIns="63500" rIns="63500" bIns="63500" rtlCol="0" anchor="ctr"/>
          <a:lstStyle/>
          <a:p>
            <a:pPr algn="ctr">
              <a:defRPr/>
            </a:pPr>
            <a:endParaRPr sz="2800"/>
          </a:p>
        </p:txBody>
      </p:sp>
      <p:sp>
        <p:nvSpPr>
          <p:cNvPr id="17" name="AutoShape 17"/>
          <p:cNvSpPr/>
          <p:nvPr/>
        </p:nvSpPr>
        <p:spPr>
          <a:xfrm>
            <a:off x="2136140" y="3294380"/>
            <a:ext cx="5712460" cy="84201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Git Version Control</a:t>
            </a:r>
            <a:endParaRPr lang="en-US" sz="3600" b="1" i="0" u="none" strike="noStrike">
              <a:solidFill>
                <a:srgbClr val="FFFFFF"/>
              </a:solidFill>
              <a:latin typeface="Poppins"/>
              <a:ea typeface="Poppins"/>
              <a:cs typeface="Poppins"/>
              <a:sym typeface="Poppins"/>
            </a:endParaRPr>
          </a:p>
        </p:txBody>
      </p:sp>
      <p:sp>
        <p:nvSpPr>
          <p:cNvPr id="18" name="AutoShape 18"/>
          <p:cNvSpPr/>
          <p:nvPr/>
        </p:nvSpPr>
        <p:spPr>
          <a:xfrm>
            <a:off x="2136140" y="4136390"/>
            <a:ext cx="5712460" cy="1964690"/>
          </a:xfrm>
          <a:prstGeom prst="rect">
            <a:avLst/>
          </a:prstGeom>
          <a:noFill/>
          <a:ln w="19050" cap="flat" cmpd="sng">
            <a:noFill/>
            <a:prstDash val="solid"/>
            <a:round/>
          </a:ln>
        </p:spPr>
        <p:txBody>
          <a:bodyPr vert="horz" wrap="square" lIns="0" tIns="0" rIns="0" bIns="0" rtlCol="0" anchor="t" anchorCtr="0"/>
          <a:lstStyle/>
          <a:p>
            <a:pPr indent="0" algn="l">
              <a:lnSpc>
                <a:spcPct val="108000"/>
              </a:lnSpc>
              <a:defRPr/>
            </a:pPr>
            <a:r>
              <a:rPr lang="en-US" sz="2400" b="0" i="0" u="none" strike="noStrike">
                <a:solidFill>
                  <a:srgbClr val="EBF0FA"/>
                </a:solidFill>
                <a:latin typeface="Noto Sans SC"/>
                <a:ea typeface="Noto Sans SC"/>
                <a:cs typeface="Noto Sans SC"/>
                <a:sym typeface="Noto Sans SC"/>
              </a:rPr>
              <a:t>Maintained a detailed commit history on GitHub, demonstrating a consistent and iterative development process throughout the project lifecycle.</a:t>
            </a:r>
            <a:endParaRPr lang="en-US" sz="2400" b="0" i="0" u="none" strike="noStrike">
              <a:solidFill>
                <a:srgbClr val="EBF0FA"/>
              </a:solidFill>
              <a:latin typeface="Noto Sans SC"/>
              <a:ea typeface="Noto Sans SC"/>
              <a:cs typeface="Noto Sans SC"/>
              <a:sym typeface="Noto Sans SC"/>
            </a:endParaRPr>
          </a:p>
        </p:txBody>
      </p:sp>
      <p:sp>
        <p:nvSpPr>
          <p:cNvPr id="22" name="AutoShape 16"/>
          <p:cNvSpPr/>
          <p:nvPr/>
        </p:nvSpPr>
        <p:spPr>
          <a:xfrm>
            <a:off x="8614410" y="3085465"/>
            <a:ext cx="6371590" cy="2997200"/>
          </a:xfrm>
          <a:prstGeom prst="roundRect">
            <a:avLst>
              <a:gd name="adj" fmla="val 8571"/>
            </a:avLst>
          </a:prstGeom>
          <a:solidFill>
            <a:schemeClr val="accent1">
              <a:lumMod val="50000"/>
              <a:alpha val="95000"/>
            </a:schemeClr>
          </a:solidFill>
          <a:ln w="25400" cap="flat" cmpd="sng">
            <a:noFill/>
            <a:prstDash val="solid"/>
            <a:round/>
          </a:ln>
        </p:spPr>
        <p:txBody>
          <a:bodyPr vert="horz" wrap="square" lIns="63500" tIns="63500" rIns="63500" bIns="63500" rtlCol="0" anchor="ctr"/>
          <a:p>
            <a:pPr algn="ctr">
              <a:defRPr/>
            </a:pPr>
            <a:endParaRPr sz="2800"/>
          </a:p>
        </p:txBody>
      </p:sp>
      <p:sp>
        <p:nvSpPr>
          <p:cNvPr id="20" name="AutoShape 20"/>
          <p:cNvSpPr/>
          <p:nvPr/>
        </p:nvSpPr>
        <p:spPr>
          <a:xfrm>
            <a:off x="8891905" y="3475990"/>
            <a:ext cx="5105400" cy="381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Project Deliverables</a:t>
            </a:r>
            <a:endParaRPr lang="en-US" sz="1100"/>
          </a:p>
        </p:txBody>
      </p:sp>
      <p:sp>
        <p:nvSpPr>
          <p:cNvPr id="21" name="AutoShape 21"/>
          <p:cNvSpPr/>
          <p:nvPr/>
        </p:nvSpPr>
        <p:spPr>
          <a:xfrm>
            <a:off x="8891905" y="4164965"/>
            <a:ext cx="6371590" cy="1965325"/>
          </a:xfrm>
          <a:prstGeom prst="rect">
            <a:avLst/>
          </a:prstGeom>
          <a:noFill/>
          <a:ln w="19050" cap="flat" cmpd="sng">
            <a:noFill/>
            <a:prstDash val="solid"/>
            <a:round/>
          </a:ln>
        </p:spPr>
        <p:txBody>
          <a:bodyPr vert="horz" wrap="square" lIns="0" tIns="0" rIns="0" bIns="0" rtlCol="0" anchor="t" anchorCtr="0">
            <a:noAutofit/>
          </a:bodyPr>
          <a:lstStyle/>
          <a:p>
            <a:pPr lvl="0" algn="l">
              <a:lnSpc>
                <a:spcPct val="108000"/>
              </a:lnSpc>
              <a:buSzTx/>
              <a:defRPr/>
            </a:pPr>
            <a:r>
              <a:rPr lang="en-US" sz="2000">
                <a:solidFill>
                  <a:srgbClr val="EBF0FA"/>
                </a:solidFill>
                <a:latin typeface="Noto Sans SC"/>
                <a:ea typeface="Noto Sans SC"/>
                <a:cs typeface="Noto Sans SC"/>
                <a:sym typeface="Noto Sans SC"/>
              </a:rPr>
              <a:t>•</a:t>
            </a:r>
            <a:r>
              <a:rPr lang="en-US" sz="2000">
                <a:solidFill>
                  <a:srgbClr val="EBF0FA"/>
                </a:solidFill>
                <a:latin typeface="Noto Sans SC"/>
                <a:ea typeface="Noto Sans SC"/>
                <a:cs typeface="Noto Sans SC"/>
                <a:sym typeface="Noto Sans SC"/>
              </a:rPr>
              <a:t>Repo:</a:t>
            </a:r>
            <a:r>
              <a:rPr lang="en-US" sz="2000">
                <a:solidFill>
                  <a:srgbClr val="EBF0FA"/>
                </a:solidFill>
                <a:latin typeface="Noto Sans SC"/>
                <a:ea typeface="Noto Sans SC"/>
                <a:cs typeface="Noto Sans SC"/>
                <a:sym typeface="Noto Sans SC"/>
              </a:rPr>
              <a:t>Public GitHub with clear commit logs</a:t>
            </a:r>
            <a:br>
              <a:rPr lang="en-US" sz="2000">
                <a:solidFill>
                  <a:srgbClr val="EBF0FA"/>
                </a:solidFill>
                <a:latin typeface="Noto Sans SC"/>
                <a:ea typeface="Noto Sans SC"/>
                <a:cs typeface="Noto Sans SC"/>
                <a:sym typeface="Noto Sans SC"/>
              </a:rPr>
            </a:br>
            <a:r>
              <a:rPr lang="en-US" sz="2000">
                <a:solidFill>
                  <a:srgbClr val="EBF0FA"/>
                </a:solidFill>
                <a:latin typeface="Noto Sans SC"/>
                <a:ea typeface="Noto Sans SC"/>
                <a:cs typeface="Noto Sans SC"/>
                <a:sym typeface="Noto Sans SC"/>
              </a:rPr>
              <a:t>•</a:t>
            </a:r>
            <a:r>
              <a:rPr lang="en-US" sz="2000">
                <a:solidFill>
                  <a:srgbClr val="EBF0FA"/>
                </a:solidFill>
                <a:latin typeface="Noto Sans SC"/>
                <a:ea typeface="Noto Sans SC"/>
                <a:cs typeface="Noto Sans SC"/>
                <a:sym typeface="Noto Sans SC"/>
              </a:rPr>
              <a:t>API Docs:</a:t>
            </a:r>
            <a:r>
              <a:rPr lang="en-US" sz="2000">
                <a:solidFill>
                  <a:srgbClr val="EBF0FA"/>
                </a:solidFill>
                <a:latin typeface="Noto Sans SC"/>
                <a:ea typeface="Noto Sans SC"/>
                <a:cs typeface="Noto Sans SC"/>
                <a:sym typeface="Noto Sans SC"/>
              </a:rPr>
              <a:t>Interactive Swagger UI + Exported PDF</a:t>
            </a:r>
            <a:br>
              <a:rPr lang="en-US" sz="2000">
                <a:solidFill>
                  <a:srgbClr val="EBF0FA"/>
                </a:solidFill>
                <a:latin typeface="Noto Sans SC"/>
                <a:ea typeface="Noto Sans SC"/>
                <a:cs typeface="Noto Sans SC"/>
                <a:sym typeface="Noto Sans SC"/>
              </a:rPr>
            </a:br>
            <a:r>
              <a:rPr lang="en-US" sz="2000">
                <a:solidFill>
                  <a:srgbClr val="EBF0FA"/>
                </a:solidFill>
                <a:latin typeface="Noto Sans SC"/>
                <a:ea typeface="Noto Sans SC"/>
                <a:cs typeface="Noto Sans SC"/>
                <a:sym typeface="Noto Sans SC"/>
              </a:rPr>
              <a:t>•</a:t>
            </a:r>
            <a:r>
              <a:rPr lang="en-US" sz="2000">
                <a:solidFill>
                  <a:srgbClr val="EBF0FA"/>
                </a:solidFill>
                <a:latin typeface="Noto Sans SC"/>
                <a:ea typeface="Noto Sans SC"/>
                <a:cs typeface="Noto Sans SC"/>
                <a:sym typeface="Noto Sans SC"/>
              </a:rPr>
              <a:t>Report:</a:t>
            </a:r>
            <a:r>
              <a:rPr lang="en-US" sz="2000">
                <a:solidFill>
                  <a:srgbClr val="EBF0FA"/>
                </a:solidFill>
                <a:latin typeface="Noto Sans SC"/>
                <a:ea typeface="Noto Sans SC"/>
                <a:cs typeface="Noto Sans SC"/>
                <a:sym typeface="Noto Sans SC"/>
              </a:rPr>
              <a:t>Detailed technical justification document</a:t>
            </a:r>
            <a:br>
              <a:rPr lang="en-US" sz="2000">
                <a:solidFill>
                  <a:srgbClr val="EBF0FA"/>
                </a:solidFill>
                <a:latin typeface="Noto Sans SC"/>
                <a:ea typeface="Noto Sans SC"/>
                <a:cs typeface="Noto Sans SC"/>
                <a:sym typeface="Noto Sans SC"/>
              </a:rPr>
            </a:br>
            <a:r>
              <a:rPr lang="en-US" sz="2000">
                <a:solidFill>
                  <a:srgbClr val="EBF0FA"/>
                </a:solidFill>
                <a:latin typeface="Noto Sans SC"/>
                <a:ea typeface="Noto Sans SC"/>
                <a:cs typeface="Noto Sans SC"/>
                <a:sym typeface="Noto Sans SC"/>
              </a:rPr>
              <a:t>•</a:t>
            </a:r>
            <a:r>
              <a:rPr lang="en-US" sz="2000">
                <a:solidFill>
                  <a:srgbClr val="EBF0FA"/>
                </a:solidFill>
                <a:latin typeface="Noto Sans SC"/>
                <a:ea typeface="Noto Sans SC"/>
                <a:cs typeface="Noto Sans SC"/>
                <a:sym typeface="Noto Sans SC"/>
              </a:rPr>
              <a:t>Slides:</a:t>
            </a:r>
            <a:r>
              <a:rPr lang="en-US" sz="2000">
                <a:solidFill>
                  <a:srgbClr val="EBF0FA"/>
                </a:solidFill>
                <a:latin typeface="Noto Sans SC"/>
                <a:ea typeface="Noto Sans SC"/>
                <a:cs typeface="Noto Sans SC"/>
                <a:sym typeface="Noto Sans SC"/>
              </a:rPr>
              <a:t>This project portfolio presentation</a:t>
            </a:r>
            <a:endParaRPr lang="en-US" sz="2000">
              <a:solidFill>
                <a:srgbClr val="EBF0FA"/>
              </a:solidFill>
              <a:latin typeface="Noto Sans SC"/>
              <a:ea typeface="Noto Sans SC"/>
              <a:cs typeface="Noto Sans SC"/>
              <a:sym typeface="Noto Sans SC"/>
            </a:endParaRPr>
          </a:p>
        </p:txBody>
      </p:sp>
      <p:pic>
        <p:nvPicPr>
          <p:cNvPr id="19" name="图片 18" descr="截屏2026-04-22 00.36.42"/>
          <p:cNvPicPr>
            <a:picLocks noChangeAspect="1"/>
          </p:cNvPicPr>
          <p:nvPr/>
        </p:nvPicPr>
        <p:blipFill>
          <a:blip r:embed="rId6"/>
          <a:stretch>
            <a:fillRect/>
          </a:stretch>
        </p:blipFill>
        <p:spPr>
          <a:xfrm>
            <a:off x="4963795" y="6311265"/>
            <a:ext cx="7581265" cy="36798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3D8F1">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752600" y="7569200"/>
            <a:ext cx="8871863" cy="1766255"/>
          </a:xfrm>
          <a:custGeom>
            <a:avLst/>
            <a:gdLst/>
            <a:ahLst/>
            <a:cxnLst/>
            <a:rect l="l" t="t" r="r" b="b"/>
            <a:pathLst>
              <a:path w="8871863" h="1766255">
                <a:moveTo>
                  <a:pt x="4435931" y="0"/>
                </a:moveTo>
                <a:cubicBezTo>
                  <a:pt x="1986029" y="0"/>
                  <a:pt x="0" y="395393"/>
                  <a:pt x="0" y="883128"/>
                </a:cubicBezTo>
                <a:cubicBezTo>
                  <a:pt x="0" y="1370874"/>
                  <a:pt x="1986029" y="1766255"/>
                  <a:pt x="4435931" y="1766255"/>
                </a:cubicBezTo>
                <a:cubicBezTo>
                  <a:pt x="6885835" y="1766255"/>
                  <a:pt x="8871863" y="1370874"/>
                  <a:pt x="8871863" y="883128"/>
                </a:cubicBezTo>
                <a:cubicBezTo>
                  <a:pt x="8871863" y="395393"/>
                  <a:pt x="6885835" y="0"/>
                  <a:pt x="443593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590800" y="7315200"/>
            <a:ext cx="7213600" cy="18542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pic>
        <p:nvPicPr>
          <p:cNvPr id="5" name="Picture 5"/>
          <p:cNvPicPr>
            <a:picLocks noChangeAspect="1"/>
          </p:cNvPicPr>
          <p:nvPr/>
        </p:nvPicPr>
        <p:blipFill>
          <a:blip r:embed="rId1"/>
          <a:srcRect l="99" r="99"/>
          <a:stretch>
            <a:fillRect/>
          </a:stretch>
        </p:blipFill>
        <p:spPr>
          <a:xfrm rot="-1920000" flipV="1">
            <a:off x="13919200" y="-1943100"/>
            <a:ext cx="5105400" cy="6019800"/>
          </a:xfrm>
          <a:prstGeom prst="rect">
            <a:avLst/>
          </a:prstGeom>
          <a:noFill/>
          <a:ln w="25400" cap="flat" cmpd="sng">
            <a:noFill/>
            <a:prstDash val="solid"/>
            <a:round/>
          </a:ln>
        </p:spPr>
      </p:pic>
      <p:pic>
        <p:nvPicPr>
          <p:cNvPr id="6" name="Picture 6"/>
          <p:cNvPicPr>
            <a:picLocks noChangeAspect="1"/>
          </p:cNvPicPr>
          <p:nvPr/>
        </p:nvPicPr>
        <p:blipFill>
          <a:blip r:embed="rId2"/>
          <a:srcRect l="99" r="99"/>
          <a:stretch>
            <a:fillRect/>
          </a:stretch>
        </p:blipFill>
        <p:spPr>
          <a:xfrm rot="-4080000" flipV="1">
            <a:off x="-50800" y="-2146300"/>
            <a:ext cx="5105400" cy="6019800"/>
          </a:xfrm>
          <a:prstGeom prst="rect">
            <a:avLst/>
          </a:prstGeom>
          <a:noFill/>
          <a:ln w="25400" cap="flat" cmpd="sng">
            <a:noFill/>
            <a:prstDash val="solid"/>
            <a:round/>
          </a:ln>
        </p:spPr>
      </p:pic>
      <p:pic>
        <p:nvPicPr>
          <p:cNvPr id="7" name="Picture 7"/>
          <p:cNvPicPr>
            <a:picLocks noChangeAspect="1"/>
          </p:cNvPicPr>
          <p:nvPr/>
        </p:nvPicPr>
        <p:blipFill>
          <a:blip r:embed="rId3"/>
          <a:srcRect l="99" r="99"/>
          <a:stretch>
            <a:fillRect/>
          </a:stretch>
        </p:blipFill>
        <p:spPr>
          <a:xfrm rot="-1920000" flipV="1">
            <a:off x="13119100" y="-2819400"/>
            <a:ext cx="5105400" cy="6019800"/>
          </a:xfrm>
          <a:prstGeom prst="rect">
            <a:avLst/>
          </a:prstGeom>
          <a:noFill/>
          <a:ln w="25400" cap="flat" cmpd="sng">
            <a:noFill/>
            <a:prstDash val="solid"/>
            <a:round/>
          </a:ln>
        </p:spPr>
      </p:pic>
      <p:pic>
        <p:nvPicPr>
          <p:cNvPr id="8" name="Picture 8"/>
          <p:cNvPicPr>
            <a:picLocks noChangeAspect="1"/>
          </p:cNvPicPr>
          <p:nvPr/>
        </p:nvPicPr>
        <p:blipFill>
          <a:blip r:embed="rId4"/>
          <a:srcRect l="99" r="99"/>
          <a:stretch>
            <a:fillRect/>
          </a:stretch>
        </p:blipFill>
        <p:spPr>
          <a:xfrm rot="-4080000" flipV="1">
            <a:off x="-1231900" y="-2387600"/>
            <a:ext cx="5105400" cy="6019800"/>
          </a:xfrm>
          <a:prstGeom prst="rect">
            <a:avLst/>
          </a:prstGeom>
          <a:noFill/>
          <a:ln w="25400" cap="flat" cmpd="sng">
            <a:noFill/>
            <a:prstDash val="solid"/>
            <a:round/>
          </a:ln>
        </p:spPr>
      </p:pic>
      <p:sp>
        <p:nvSpPr>
          <p:cNvPr id="9" name="Freeform 9"/>
          <p:cNvSpPr/>
          <p:nvPr/>
        </p:nvSpPr>
        <p:spPr>
          <a:xfrm rot="8880000">
            <a:off x="14897100" y="10668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rot="8880000">
            <a:off x="14935200" y="10922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1" name="Freeform 11"/>
          <p:cNvSpPr/>
          <p:nvPr/>
        </p:nvSpPr>
        <p:spPr>
          <a:xfrm rot="6720000">
            <a:off x="1308100" y="1638300"/>
            <a:ext cx="392571" cy="392571"/>
          </a:xfrm>
          <a:custGeom>
            <a:avLst/>
            <a:gdLst/>
            <a:ahLst/>
            <a:cxnLst/>
            <a:rect l="l" t="t" r="r" b="b"/>
            <a:pathLst>
              <a:path w="392571" h="392571">
                <a:moveTo>
                  <a:pt x="196286" y="0"/>
                </a:moveTo>
                <a:cubicBezTo>
                  <a:pt x="87880" y="0"/>
                  <a:pt x="0" y="87880"/>
                  <a:pt x="0" y="196286"/>
                </a:cubicBezTo>
                <a:cubicBezTo>
                  <a:pt x="0" y="304691"/>
                  <a:pt x="87880" y="392571"/>
                  <a:pt x="196286" y="392571"/>
                </a:cubicBezTo>
                <a:cubicBezTo>
                  <a:pt x="304691" y="392571"/>
                  <a:pt x="392571" y="304691"/>
                  <a:pt x="392571" y="196286"/>
                </a:cubicBezTo>
                <a:cubicBezTo>
                  <a:pt x="392571" y="87880"/>
                  <a:pt x="304691" y="0"/>
                  <a:pt x="196286"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6720000">
            <a:off x="1346200" y="1663700"/>
            <a:ext cx="317500" cy="3429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3" name="Freeform 13"/>
          <p:cNvSpPr/>
          <p:nvPr/>
        </p:nvSpPr>
        <p:spPr>
          <a:xfrm rot="8880000">
            <a:off x="15430500" y="13081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8880000">
            <a:off x="15519400" y="1371600"/>
            <a:ext cx="635000" cy="6731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5" name="Freeform 15"/>
          <p:cNvSpPr/>
          <p:nvPr/>
        </p:nvSpPr>
        <p:spPr>
          <a:xfrm rot="6720000">
            <a:off x="1955800" y="1358900"/>
            <a:ext cx="785141" cy="785141"/>
          </a:xfrm>
          <a:custGeom>
            <a:avLst/>
            <a:gdLst/>
            <a:ahLst/>
            <a:cxnLst/>
            <a:rect l="l" t="t" r="r" b="b"/>
            <a:pathLst>
              <a:path w="785141" h="785141">
                <a:moveTo>
                  <a:pt x="392571" y="0"/>
                </a:moveTo>
                <a:cubicBezTo>
                  <a:pt x="175759" y="0"/>
                  <a:pt x="0" y="175759"/>
                  <a:pt x="0" y="392571"/>
                </a:cubicBezTo>
                <a:cubicBezTo>
                  <a:pt x="0" y="609382"/>
                  <a:pt x="175759" y="785141"/>
                  <a:pt x="392571" y="785141"/>
                </a:cubicBezTo>
                <a:cubicBezTo>
                  <a:pt x="609382" y="785141"/>
                  <a:pt x="785141" y="609382"/>
                  <a:pt x="785141" y="392571"/>
                </a:cubicBezTo>
                <a:cubicBezTo>
                  <a:pt x="785141" y="175759"/>
                  <a:pt x="609382" y="0"/>
                  <a:pt x="392571" y="0"/>
                </a:cubicBezTo>
                <a:close/>
              </a:path>
            </a:pathLst>
          </a:custGeom>
          <a:solidFill>
            <a:srgbClr val="305BA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6720000">
            <a:off x="2044700" y="1422400"/>
            <a:ext cx="635000" cy="673100"/>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pic>
        <p:nvPicPr>
          <p:cNvPr id="17" name="Picture 17"/>
          <p:cNvPicPr>
            <a:picLocks noChangeAspect="1"/>
          </p:cNvPicPr>
          <p:nvPr/>
        </p:nvPicPr>
        <p:blipFill>
          <a:blip r:embed="rId5"/>
          <a:srcRect t="107" b="107"/>
          <a:stretch>
            <a:fillRect/>
          </a:stretch>
        </p:blipFill>
        <p:spPr>
          <a:xfrm>
            <a:off x="2044700" y="3543300"/>
            <a:ext cx="7099300" cy="4787900"/>
          </a:xfrm>
          <a:prstGeom prst="rect">
            <a:avLst/>
          </a:prstGeom>
          <a:noFill/>
          <a:ln w="25400" cap="flat" cmpd="sng">
            <a:noFill/>
            <a:prstDash val="solid"/>
            <a:round/>
          </a:ln>
        </p:spPr>
      </p:pic>
      <p:pic>
        <p:nvPicPr>
          <p:cNvPr id="19" name="Picture 19"/>
          <p:cNvPicPr>
            <a:picLocks noChangeAspect="1"/>
          </p:cNvPicPr>
          <p:nvPr/>
        </p:nvPicPr>
        <p:blipFill>
          <a:blip r:embed="rId6"/>
          <a:stretch>
            <a:fillRect/>
          </a:stretch>
        </p:blipFill>
        <p:spPr>
          <a:xfrm>
            <a:off x="16002000" y="9285167"/>
            <a:ext cx="2286000" cy="1001833"/>
          </a:xfrm>
          <a:prstGeom prst="rect">
            <a:avLst/>
          </a:prstGeom>
        </p:spPr>
      </p:pic>
      <p:sp>
        <p:nvSpPr>
          <p:cNvPr id="20" name="文本框 19"/>
          <p:cNvSpPr txBox="1"/>
          <p:nvPr/>
        </p:nvSpPr>
        <p:spPr>
          <a:xfrm>
            <a:off x="9804400" y="5340985"/>
            <a:ext cx="7953375" cy="1630045"/>
          </a:xfrm>
          <a:prstGeom prst="rect">
            <a:avLst/>
          </a:prstGeom>
          <a:noFill/>
        </p:spPr>
        <p:txBody>
          <a:bodyPr wrap="square" rtlCol="0">
            <a:spAutoFit/>
          </a:bodyPr>
          <a:p>
            <a:pPr algn="ctr"/>
            <a:r>
              <a:rPr lang="en-US" altLang="zh-CN" sz="5000" dirty="0">
                <a:solidFill>
                  <a:schemeClr val="tx1">
                    <a:lumMod val="85000"/>
                    <a:lumOff val="15000"/>
                  </a:schemeClr>
                </a:solidFill>
                <a:latin typeface="Times New Roman Regular" panose="02020503050405090304" charset="0"/>
                <a:ea typeface="华文楷体" panose="02010600040101010101" pitchFamily="2" charset="-122"/>
                <a:cs typeface="Times New Roman Regular" panose="02020503050405090304" charset="0"/>
              </a:rPr>
              <a:t>Thank you for your criticism and correction</a:t>
            </a:r>
            <a:endParaRPr lang="en-US" altLang="zh-CN" sz="5000" dirty="0">
              <a:solidFill>
                <a:schemeClr val="tx1">
                  <a:lumMod val="85000"/>
                  <a:lumOff val="15000"/>
                </a:schemeClr>
              </a:solidFill>
              <a:latin typeface="Times New Roman Regular" panose="02020503050405090304" charset="0"/>
              <a:ea typeface="华文楷体" panose="02010600040101010101" pitchFamily="2" charset="-122"/>
              <a:cs typeface="Times New Roman Regular" panose="02020503050405090304" charset="0"/>
            </a:endParaRPr>
          </a:p>
        </p:txBody>
      </p:sp>
      <p:sp>
        <p:nvSpPr>
          <p:cNvPr id="21" name="矩形 20"/>
          <p:cNvSpPr/>
          <p:nvPr/>
        </p:nvSpPr>
        <p:spPr>
          <a:xfrm>
            <a:off x="11438894" y="3574206"/>
            <a:ext cx="3903980" cy="1168400"/>
          </a:xfrm>
          <a:prstGeom prst="rect">
            <a:avLst/>
          </a:prstGeom>
        </p:spPr>
        <p:txBody>
          <a:bodyPr wrap="none">
            <a:spAutoFit/>
          </a:bodyPr>
          <a:p>
            <a:pPr algn="ctr"/>
            <a:r>
              <a:rPr lang="en-US" altLang="zh-CN" sz="7000" b="1" dirty="0">
                <a:solidFill>
                  <a:schemeClr val="accent1"/>
                </a:solidFill>
                <a:latin typeface="Times New Roman Regular" panose="02020503050405090304" charset="0"/>
                <a:ea typeface="华文楷体" panose="02010600040101010101" pitchFamily="2" charset="-122"/>
                <a:cs typeface="Times New Roman Regular" panose="02020503050405090304" charset="0"/>
              </a:rPr>
              <a:t>THANKS</a:t>
            </a:r>
            <a:endParaRPr lang="en-US" altLang="zh-CN" sz="7000" b="1" dirty="0">
              <a:solidFill>
                <a:schemeClr val="accent1"/>
              </a:solidFill>
              <a:latin typeface="Times New Roman Regular" panose="02020503050405090304" charset="0"/>
              <a:ea typeface="华文楷体" panose="02010600040101010101" pitchFamily="2" charset="-122"/>
              <a:cs typeface="Times New Roman Regular" panose="02020503050405090304" charset="0"/>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4180</Words>
  <Application>WPS 文字</Application>
  <PresentationFormat/>
  <Paragraphs>134</Paragraphs>
  <Slides>13</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13</vt:i4>
      </vt:variant>
    </vt:vector>
  </HeadingPairs>
  <TitlesOfParts>
    <vt:vector size="39" baseType="lpstr">
      <vt:lpstr>Arial</vt:lpstr>
      <vt:lpstr>宋体</vt:lpstr>
      <vt:lpstr>Wingdings</vt:lpstr>
      <vt:lpstr>Arial</vt:lpstr>
      <vt:lpstr>Fredoka</vt:lpstr>
      <vt:lpstr>Thonburi</vt:lpstr>
      <vt:lpstr>Poppins</vt:lpstr>
      <vt:lpstr>Noto Sans SC</vt:lpstr>
      <vt:lpstr>Arial Regular</vt:lpstr>
      <vt:lpstr>Source Code Pro</vt:lpstr>
      <vt:lpstr>Consolas</vt:lpstr>
      <vt:lpstr>Times New Roman Regular</vt:lpstr>
      <vt:lpstr>华文楷体</vt:lpstr>
      <vt:lpstr>微软雅黑</vt:lpstr>
      <vt:lpstr>汉仪旗黑</vt:lpstr>
      <vt:lpstr>宋体</vt:lpstr>
      <vt:lpstr>Arial Unicode MS</vt:lpstr>
      <vt:lpstr>汉仪书宋二KW</vt:lpstr>
      <vt:lpstr>Consolas</vt:lpstr>
      <vt:lpstr>Fredoka</vt:lpstr>
      <vt:lpstr>Noto Sans SC</vt:lpstr>
      <vt:lpstr>Poppins</vt:lpstr>
      <vt:lpstr>Source Code Pro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cai***@****ggff.shop</cp:lastModifiedBy>
  <cp:revision>5</cp:revision>
  <dcterms:created xsi:type="dcterms:W3CDTF">2026-04-21T16:37:25Z</dcterms:created>
  <dcterms:modified xsi:type="dcterms:W3CDTF">2026-04-21T16:37:25Z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F6F9F6CF12881D4601A0E769E1F70A75_43</vt:lpwstr>
  </property>
  <property fmtid="{D5CDD505-2E9C-101B-9397-08002B2CF9AE}" pid="3" name="KSOProductBuildVer">
    <vt:lpwstr>2052-6.14.0.8924</vt:lpwstr>
  </property>
</Properties>
</file>